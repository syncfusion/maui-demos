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4" r:id="rId7"/>
    <p:sldId id="262"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Product</a:t>
            </a:r>
            <a:r>
              <a:rPr lang="en-US" baseline="0" dirty="0"/>
              <a:t> Growth</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Product 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2024</c:v>
                </c:pt>
                <c:pt idx="1">
                  <c:v>2025</c:v>
                </c:pt>
                <c:pt idx="2">
                  <c:v>2026</c:v>
                </c:pt>
              </c:numCache>
            </c:numRef>
          </c:cat>
          <c:val>
            <c:numRef>
              <c:f>Sheet1!$B$2:$B$4</c:f>
              <c:numCache>
                <c:formatCode>General</c:formatCode>
                <c:ptCount val="3"/>
                <c:pt idx="0">
                  <c:v>4.3</c:v>
                </c:pt>
                <c:pt idx="1">
                  <c:v>2.5</c:v>
                </c:pt>
                <c:pt idx="2">
                  <c:v>4.5</c:v>
                </c:pt>
              </c:numCache>
            </c:numRef>
          </c:val>
          <c:extLst>
            <c:ext xmlns:c16="http://schemas.microsoft.com/office/drawing/2014/chart" uri="{C3380CC4-5D6E-409C-BE32-E72D297353CC}">
              <c16:uniqueId val="{00000000-778B-4A1F-865C-A14B0935BB0B}"/>
            </c:ext>
          </c:extLst>
        </c:ser>
        <c:ser>
          <c:idx val="1"/>
          <c:order val="1"/>
          <c:tx>
            <c:strRef>
              <c:f>Sheet1!$C$1</c:f>
              <c:strCache>
                <c:ptCount val="1"/>
                <c:pt idx="0">
                  <c:v>Product B</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2024</c:v>
                </c:pt>
                <c:pt idx="1">
                  <c:v>2025</c:v>
                </c:pt>
                <c:pt idx="2">
                  <c:v>2026</c:v>
                </c:pt>
              </c:numCache>
            </c:numRef>
          </c:cat>
          <c:val>
            <c:numRef>
              <c:f>Sheet1!$C$2:$C$4</c:f>
              <c:numCache>
                <c:formatCode>General</c:formatCode>
                <c:ptCount val="3"/>
                <c:pt idx="0">
                  <c:v>2.4</c:v>
                </c:pt>
                <c:pt idx="1">
                  <c:v>4.4000000000000004</c:v>
                </c:pt>
                <c:pt idx="2">
                  <c:v>2.8</c:v>
                </c:pt>
              </c:numCache>
            </c:numRef>
          </c:val>
          <c:extLst>
            <c:ext xmlns:c16="http://schemas.microsoft.com/office/drawing/2014/chart" uri="{C3380CC4-5D6E-409C-BE32-E72D297353CC}">
              <c16:uniqueId val="{00000001-778B-4A1F-865C-A14B0935BB0B}"/>
            </c:ext>
          </c:extLst>
        </c:ser>
        <c:ser>
          <c:idx val="2"/>
          <c:order val="2"/>
          <c:tx>
            <c:strRef>
              <c:f>Sheet1!$D$1</c:f>
              <c:strCache>
                <c:ptCount val="1"/>
                <c:pt idx="0">
                  <c:v>Product C</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2024</c:v>
                </c:pt>
                <c:pt idx="1">
                  <c:v>2025</c:v>
                </c:pt>
                <c:pt idx="2">
                  <c:v>2026</c:v>
                </c:pt>
              </c:numCache>
            </c:numRef>
          </c:cat>
          <c:val>
            <c:numRef>
              <c:f>Sheet1!$D$2:$D$4</c:f>
              <c:numCache>
                <c:formatCode>General</c:formatCode>
                <c:ptCount val="3"/>
                <c:pt idx="0">
                  <c:v>2</c:v>
                </c:pt>
                <c:pt idx="1">
                  <c:v>2</c:v>
                </c:pt>
                <c:pt idx="2">
                  <c:v>5</c:v>
                </c:pt>
              </c:numCache>
            </c:numRef>
          </c:val>
          <c:extLst>
            <c:ext xmlns:c16="http://schemas.microsoft.com/office/drawing/2014/chart" uri="{C3380CC4-5D6E-409C-BE32-E72D297353CC}">
              <c16:uniqueId val="{00000002-778B-4A1F-865C-A14B0935BB0B}"/>
            </c:ext>
          </c:extLst>
        </c:ser>
        <c:dLbls>
          <c:dLblPos val="outEnd"/>
          <c:showLegendKey val="0"/>
          <c:showVal val="1"/>
          <c:showCatName val="0"/>
          <c:showSerName val="0"/>
          <c:showPercent val="0"/>
          <c:showBubbleSize val="0"/>
        </c:dLbls>
        <c:gapWidth val="219"/>
        <c:overlap val="-27"/>
        <c:axId val="1560681360"/>
        <c:axId val="1480323408"/>
      </c:barChart>
      <c:catAx>
        <c:axId val="1560681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80323408"/>
        <c:crosses val="autoZero"/>
        <c:auto val="1"/>
        <c:lblAlgn val="ctr"/>
        <c:lblOffset val="100"/>
        <c:noMultiLvlLbl val="0"/>
      </c:catAx>
      <c:valAx>
        <c:axId val="14803234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60681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8092-E867-4E68-9886-B0205E2A27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A09C4B-0CC4-4993-9D0F-D27A49D730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D9D6B2-3203-48A7-85C0-06852B52786A}"/>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A8B66A1C-EA7F-4E6F-ABAD-D25AF2A5D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B37CF-1A86-42A3-A07C-D2DA7880CA4C}"/>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98798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A55BD-9E4B-40B7-8EB9-7F10B7270B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51656E-1980-4619-BBC2-1C0AECF5FF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37196B-85A7-4EE9-A037-146860D00D65}"/>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9E1B61C3-1137-4444-8857-E46855FEA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A481B-7D56-458D-9F0B-73F00649E611}"/>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30213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5B27-DE83-4844-A575-54EE450B1A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5B7AB5-6E0B-4DBB-86F4-37CEA31A46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06E480A-0C03-4D18-BE4C-6E525B2F6428}"/>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992B60B8-19CB-47CB-B72B-0416852AA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9FE0F-A484-4EA7-8FD2-04C4B8776940}"/>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97907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4C114-EFA0-42E6-B430-30AD2967F2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B1390-1CCB-4CF0-913E-185544AF421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93107-53DE-4DCB-BE89-54BC1D44CC2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31A65B-5BD3-4B14-A039-5A309529A78B}"/>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6" name="Footer Placeholder 5">
            <a:extLst>
              <a:ext uri="{FF2B5EF4-FFF2-40B4-BE49-F238E27FC236}">
                <a16:creationId xmlns:a16="http://schemas.microsoft.com/office/drawing/2014/main" id="{268F39D9-988D-459E-B1CD-C501E6C88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8384-38C5-424B-B863-1234309677FA}"/>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3956836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DCAC-57AB-4D6E-BC77-E5FBF27FE7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BFAF32-0E0F-4B9B-ABF8-08957C05B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B6BFCF4-C2D9-425F-B022-40ACE4EA8C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980780-05D2-4D96-A9D5-53484814E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8D4A927-7B61-40C1-92AB-6880517576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AB97D1-5A3B-4059-815A-340FB824448A}"/>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8" name="Footer Placeholder 7">
            <a:extLst>
              <a:ext uri="{FF2B5EF4-FFF2-40B4-BE49-F238E27FC236}">
                <a16:creationId xmlns:a16="http://schemas.microsoft.com/office/drawing/2014/main" id="{B72DE78E-294B-446D-8474-6BA224D5B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C3293A-4FD6-4428-85E0-574DF5719A86}"/>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978228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1404-108D-4FCC-8492-ACE9DCF177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FFD965-28FF-4929-B0DA-92C66945B932}"/>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4" name="Footer Placeholder 3">
            <a:extLst>
              <a:ext uri="{FF2B5EF4-FFF2-40B4-BE49-F238E27FC236}">
                <a16:creationId xmlns:a16="http://schemas.microsoft.com/office/drawing/2014/main" id="{16DAA5E0-83C1-4CF4-880B-2CF539CB7F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AF3922-374B-4171-8BC5-F1E0F8421F58}"/>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3607219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AB476E-AC05-47E6-A12F-24C0D753CF12}"/>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3" name="Footer Placeholder 2">
            <a:extLst>
              <a:ext uri="{FF2B5EF4-FFF2-40B4-BE49-F238E27FC236}">
                <a16:creationId xmlns:a16="http://schemas.microsoft.com/office/drawing/2014/main" id="{63C97C91-D4AD-4F7E-B19C-A36AC68BCE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8A34-EE4E-4307-B20A-F719CBC3FB1F}"/>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68259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3019-6048-4EF1-8E67-3302EF95B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EAC829-6F62-4C5B-A4FE-88D795CAC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7B1730-5CED-46AB-8AF2-3560B72661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17798A2-8D49-4C9C-8CB7-5367A10AB5B7}"/>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6" name="Footer Placeholder 5">
            <a:extLst>
              <a:ext uri="{FF2B5EF4-FFF2-40B4-BE49-F238E27FC236}">
                <a16:creationId xmlns:a16="http://schemas.microsoft.com/office/drawing/2014/main" id="{7C709CD0-EF6C-41C7-B9BA-9FC337BD76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E108C-CC43-4553-B063-33D1C360EC5A}"/>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82206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A4BF-7EBD-4087-A800-77CFD938AE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2AE39C-E7E5-4536-968C-65137F387D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6C026E-0017-4FFD-BB30-78C5416B2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C98FE5-8A1C-4192-984C-C18B093CADF6}"/>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6" name="Footer Placeholder 5">
            <a:extLst>
              <a:ext uri="{FF2B5EF4-FFF2-40B4-BE49-F238E27FC236}">
                <a16:creationId xmlns:a16="http://schemas.microsoft.com/office/drawing/2014/main" id="{6E25DD6C-2A37-4709-B29A-446A57181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56A181-3C79-475A-8A12-7267413561EB}"/>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209579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4EA1-58E4-42A7-8DCA-725AFB10B7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60006E-D4B9-44A0-A059-EBC6CC39ACB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CE83F-AD46-425B-A854-996B54ABE788}"/>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A257BED7-15D0-4FA7-999F-F2D1804AD7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33827-58FD-4965-A7A7-AB35B2772676}"/>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62583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7E049-7767-4915-BFAD-AA6268FC13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53A7E7-6996-49F7-8B45-7C9EA3F14BC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E4FD6-252D-4974-83FB-A1C670961515}"/>
              </a:ext>
            </a:extLst>
          </p:cNvPr>
          <p:cNvSpPr>
            <a:spLocks noGrp="1"/>
          </p:cNvSpPr>
          <p:nvPr>
            <p:ph type="dt" sz="half" idx="10"/>
          </p:nvPr>
        </p:nvSpPr>
        <p:spPr/>
        <p:txBody>
          <a:body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75E65431-35DC-476B-ABEA-82F227DD08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5E16B-5E75-4104-B122-F4472006EB30}"/>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2982463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5371D-5B24-4F8F-B844-6B7F15843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08F94-535E-4939-99EE-305982298D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A8EA68-1C72-4720-B1FE-ED04C5E771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55A7CF-DB6C-4325-93B5-8C3F06D80356}" type="datetimeFigureOut">
              <a:rPr lang="en-US" smtClean="0"/>
              <a:t>8/25/2026</a:t>
            </a:fld>
            <a:endParaRPr lang="en-US"/>
          </a:p>
        </p:txBody>
      </p:sp>
      <p:sp>
        <p:nvSpPr>
          <p:cNvPr id="5" name="Footer Placeholder 4">
            <a:extLst>
              <a:ext uri="{FF2B5EF4-FFF2-40B4-BE49-F238E27FC236}">
                <a16:creationId xmlns:a16="http://schemas.microsoft.com/office/drawing/2014/main" id="{E13B2E32-A768-4ED6-970A-84BCB388DE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2913F1-F29E-45B5-BF89-6221E2F9F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76E65-7777-4C32-B153-6028045D6BD3}" type="slidenum">
              <a:rPr lang="en-US" smtClean="0"/>
              <a:t>‹#›</a:t>
            </a:fld>
            <a:endParaRPr lang="en-US"/>
          </a:p>
        </p:txBody>
      </p:sp>
    </p:spTree>
    <p:extLst>
      <p:ext uri="{BB962C8B-B14F-4D97-AF65-F5344CB8AC3E}">
        <p14:creationId xmlns:p14="http://schemas.microsoft.com/office/powerpoint/2010/main" val="2094410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http://www.google.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b="1" dirty="0"/>
              <a:t>Company History</a:t>
            </a:r>
          </a:p>
        </p:txBody>
      </p:sp>
      <p:sp>
        <p:nvSpPr>
          <p:cNvPr id="3" name="TextBox3"/>
          <p:cNvSpPr txBox="1">
            <a:spLocks noChangeArrowheads="1"/>
          </p:cNvSpPr>
          <p:nvPr/>
        </p:nvSpPr>
        <p:spPr bwMode="white">
          <a:xfrm>
            <a:off x="675894" y="1799971"/>
            <a:ext cx="11102213" cy="923330"/>
          </a:xfrm>
          <a:prstGeom prst="rect">
            <a:avLst/>
          </a:prstGeom>
          <a:ln>
            <a:headEnd type="none"/>
            <a:tailEnd type="none"/>
          </a:ln>
        </p:spPr>
        <p:txBody>
          <a:bodyPr wrap="square">
            <a:spAutoFit/>
          </a:bodyPr>
          <a:lstStyle/>
          <a:p>
            <a:pPr defTabSz="914400"/>
            <a:r>
              <a:rPr dirty="0"/>
              <a:t>IMN Solutions PVT LTD is the software company, established in 1987, by George Milton. The company has been listed as the trusted partner for many high-profile organizations </a:t>
            </a:r>
            <a:r>
              <a:rPr b="1" i="1" dirty="0"/>
              <a:t>since 1988 </a:t>
            </a:r>
            <a:r>
              <a:rPr dirty="0"/>
              <a:t>and got awards for quality products from reputed organizations.</a:t>
            </a:r>
          </a:p>
        </p:txBody>
      </p:sp>
      <p:sp>
        <p:nvSpPr>
          <p:cNvPr id="4" name="TextBox4"/>
          <p:cNvSpPr txBox="1">
            <a:spLocks noChangeArrowheads="1"/>
          </p:cNvSpPr>
          <p:nvPr/>
        </p:nvSpPr>
        <p:spPr bwMode="white">
          <a:xfrm>
            <a:off x="675894" y="3246120"/>
            <a:ext cx="11102212" cy="923330"/>
          </a:xfrm>
          <a:prstGeom prst="rect">
            <a:avLst/>
          </a:prstGeom>
          <a:ln>
            <a:headEnd type="none"/>
            <a:tailEnd type="none"/>
          </a:ln>
        </p:spPr>
        <p:txBody>
          <a:bodyPr wrap="square">
            <a:spAutoFit/>
          </a:bodyPr>
          <a:lstStyle/>
          <a:p>
            <a:pPr marL="444500" indent="-444500" defTabSz="914400">
              <a:buFont typeface="Arial" panose="020B0604020202020204" pitchFamily="34" charset="0"/>
              <a:buChar char="•"/>
            </a:pPr>
            <a:r>
              <a:rPr dirty="0"/>
              <a:t>The company acquired the MCY corporation for </a:t>
            </a:r>
            <a:r>
              <a:rPr b="1" dirty="0"/>
              <a:t>20 billion dollars </a:t>
            </a:r>
            <a:r>
              <a:rPr dirty="0"/>
              <a:t>and became the top revenue maker for the year 2015.</a:t>
            </a:r>
          </a:p>
          <a:p>
            <a:pPr marL="444500" indent="-444500" defTabSz="914400">
              <a:buFont typeface="Arial" panose="020B0604020202020204" pitchFamily="34" charset="0"/>
              <a:buChar char="•"/>
            </a:pPr>
            <a:r>
              <a:rPr dirty="0"/>
              <a:t>The company is participating in top open source projects in automation industry.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4088" y="292608"/>
            <a:ext cx="7278624" cy="905256"/>
          </a:xfrm>
          <a:ln>
            <a:headEnd type="none"/>
            <a:tailEnd type="none"/>
          </a:ln>
        </p:spPr>
        <p:txBody>
          <a:bodyPr wrap="square"/>
          <a:lstStyle/>
          <a:p>
            <a:pPr algn="l" defTabSz="914400"/>
            <a:r>
              <a:rPr lang="en-US" sz="4000" dirty="0">
                <a:latin typeface="Helvetica CE 35 Thin"/>
                <a:ea typeface="Helvetica CE 35 Thin"/>
                <a:cs typeface="Helvetica CE 35 Thin"/>
              </a:rPr>
              <a:t>Product Overview</a:t>
            </a:r>
            <a:endParaRPr sz="4000" dirty="0">
              <a:latin typeface="Helvetica CE 35 Thin"/>
              <a:ea typeface="Helvetica CE 35 Thin"/>
              <a:cs typeface="Helvetica CE 35 Thin"/>
            </a:endParaRPr>
          </a:p>
        </p:txBody>
      </p:sp>
      <p:sp>
        <p:nvSpPr>
          <p:cNvPr id="3" name="Text Placeholder 2"/>
          <p:cNvSpPr>
            <a:spLocks noGrp="1"/>
          </p:cNvSpPr>
          <p:nvPr>
            <p:ph type="body" idx="1"/>
          </p:nvPr>
        </p:nvSpPr>
        <p:spPr bwMode="white">
          <a:xfrm>
            <a:off x="1106424" y="1517904"/>
            <a:ext cx="9217152" cy="4507992"/>
          </a:xfrm>
          <a:ln>
            <a:headEnd type="none"/>
            <a:tailEnd type="none"/>
          </a:ln>
        </p:spPr>
        <p:txBody>
          <a:bodyPr wrap="square">
            <a:normAutofit/>
          </a:bodyPr>
          <a:lstStyle/>
          <a:p>
            <a:pPr marL="285750" indent="-285750" algn="l" defTabSz="914400">
              <a:buFont typeface="Arial" panose="020B0604020202020204" pitchFamily="34" charset="0"/>
              <a:buChar char="•"/>
            </a:pPr>
            <a:r>
              <a:rPr lang="en-US" sz="1800" dirty="0">
                <a:solidFill>
                  <a:srgbClr val="000000"/>
                </a:solidFill>
                <a:latin typeface="Calibri (Body)"/>
                <a:ea typeface="Calibri (Body)"/>
                <a:cs typeface="Calibri (Body)"/>
                <a:hlinkClick r:id="rId2"/>
              </a:rPr>
              <a:t>Adventure Works Cycles</a:t>
            </a:r>
            <a:r>
              <a:rPr lang="en-US" sz="1800" dirty="0">
                <a:solidFill>
                  <a:srgbClr val="000000"/>
                </a:solidFill>
                <a:latin typeface="Calibri (Body)"/>
                <a:ea typeface="Calibri (Body)"/>
                <a:cs typeface="Calibri (Body)"/>
              </a:rPr>
              <a:t>, the fictitious company on which the Adventure Works sample databases are based, is a large, multinational manufacturing company. </a:t>
            </a:r>
          </a:p>
          <a:p>
            <a:pPr marL="285750" indent="-285750" algn="l" defTabSz="914400">
              <a:buFont typeface="Arial" panose="020B0604020202020204" pitchFamily="34" charset="0"/>
              <a:buChar char="•"/>
            </a:pPr>
            <a:r>
              <a:rPr lang="en-US" sz="1800" dirty="0">
                <a:solidFill>
                  <a:srgbClr val="000000"/>
                </a:solidFill>
                <a:latin typeface="Calibri (Body)"/>
                <a:ea typeface="Calibri (Body)"/>
                <a:cs typeface="Calibri (Body)"/>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750" indent="-285750" algn="l" defTabSz="914400">
              <a:buFont typeface="Arial" panose="020B0604020202020204" pitchFamily="34" charset="0"/>
              <a:buChar char="•"/>
            </a:pPr>
            <a:r>
              <a:rPr lang="en-US" sz="1800" dirty="0">
                <a:solidFill>
                  <a:srgbClr val="000000"/>
                </a:solidFill>
                <a:latin typeface="Calibri (Body)"/>
                <a:ea typeface="Calibri (Body)"/>
                <a:cs typeface="Calibri (Body)"/>
              </a:rPr>
              <a:t>In 2000, Adventure Works Cycles bought a small manufacturing plant, </a:t>
            </a:r>
            <a:r>
              <a:rPr lang="en-US" sz="1800" dirty="0" err="1">
                <a:solidFill>
                  <a:srgbClr val="000000"/>
                </a:solidFill>
                <a:latin typeface="Calibri (Body)"/>
                <a:ea typeface="Calibri (Body)"/>
                <a:cs typeface="Calibri (Body)"/>
              </a:rPr>
              <a:t>Importadores</a:t>
            </a:r>
            <a:r>
              <a:rPr lang="en-US" sz="1800" dirty="0">
                <a:solidFill>
                  <a:srgbClr val="000000"/>
                </a:solidFill>
                <a:latin typeface="Calibri (Body)"/>
                <a:ea typeface="Calibri (Body)"/>
                <a:cs typeface="Calibri (Body)"/>
              </a:rPr>
              <a:t> Neptuno, located in Mexico. Importadores Neptuno manufactures several critical subcomponents for the Adventure Works Cycles production line. </a:t>
            </a:r>
          </a:p>
          <a:p>
            <a:pPr marL="285750" indent="-285750" algn="l" defTabSz="914400">
              <a:buFont typeface="Arial" panose="020B0604020202020204" pitchFamily="34" charset="0"/>
              <a:buChar char="•"/>
            </a:pPr>
            <a:r>
              <a:rPr lang="en-US" sz="1800" dirty="0">
                <a:solidFill>
                  <a:srgbClr val="000000"/>
                </a:solidFill>
                <a:latin typeface="Calibri (Body)"/>
                <a:ea typeface="Calibri (Body)"/>
                <a:cs typeface="Calibri (Body)"/>
              </a:rPr>
              <a:t>These subcomponents are shipped to the Bothell location for final product assembly. In 2001, Importadores Neptuno, became the sole manufacturer and distributor of the touring bicycle productivity group.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a:off x="742188" y="683895"/>
            <a:ext cx="2818511" cy="523220"/>
          </a:xfrm>
          <a:prstGeom prst="rect">
            <a:avLst/>
          </a:prstGeom>
          <a:ln>
            <a:headEnd type="none"/>
            <a:tailEnd type="none"/>
          </a:ln>
        </p:spPr>
        <p:txBody>
          <a:bodyPr wrap="square">
            <a:spAutoFit/>
          </a:bodyPr>
          <a:lstStyle/>
          <a:p>
            <a:pPr defTabSz="914400">
              <a:defRPr sz="2800" dirty="0"/>
            </a:pPr>
            <a:r>
              <a:rPr lang="en-US" b="1" dirty="0">
                <a:solidFill>
                  <a:srgbClr val="2C73E6">
                    <a:alpha val="100000"/>
                  </a:srgbClr>
                </a:solidFill>
              </a:rPr>
              <a:t>Group Shape</a:t>
            </a:r>
            <a:endParaRPr b="1" dirty="0">
              <a:solidFill>
                <a:srgbClr val="2C73E6">
                  <a:alpha val="100000"/>
                </a:srgbClr>
              </a:solidFill>
            </a:endParaRPr>
          </a:p>
        </p:txBody>
      </p:sp>
      <p:grpSp>
        <p:nvGrpSpPr>
          <p:cNvPr id="20" name="Group 19">
            <a:extLst>
              <a:ext uri="{FF2B5EF4-FFF2-40B4-BE49-F238E27FC236}">
                <a16:creationId xmlns:a16="http://schemas.microsoft.com/office/drawing/2014/main" id="{79845670-148A-0D45-0A1E-E4D5B9822FF8}"/>
              </a:ext>
            </a:extLst>
          </p:cNvPr>
          <p:cNvGrpSpPr/>
          <p:nvPr/>
        </p:nvGrpSpPr>
        <p:grpSpPr>
          <a:xfrm>
            <a:off x="4483671" y="837565"/>
            <a:ext cx="4627436" cy="4943348"/>
            <a:chOff x="5337111" y="461645"/>
            <a:chExt cx="4627436" cy="4943348"/>
          </a:xfrm>
        </p:grpSpPr>
        <p:sp>
          <p:nvSpPr>
            <p:cNvPr id="3" name="FlowChartTerminator3"/>
            <p:cNvSpPr>
              <a:spLocks/>
            </p:cNvSpPr>
            <p:nvPr/>
          </p:nvSpPr>
          <p:spPr>
            <a:xfrm>
              <a:off x="5339715" y="461645"/>
              <a:ext cx="1700911" cy="639953"/>
            </a:xfrm>
            <a:prstGeom prst="flowChartTerminator">
              <a:avLst/>
            </a:prstGeom>
            <a:solidFill>
              <a:srgbClr val="FF9522">
                <a:alpha val="100000"/>
              </a:srgbClr>
            </a:solidFill>
            <a:ln>
              <a:solidFill>
                <a:srgbClr val="BE6427">
                  <a:alpha val="100000"/>
                </a:srgbClr>
              </a:solidFill>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nchor="ctr"/>
            <a:lstStyle/>
            <a:p>
              <a:pPr algn="ctr" defTabSz="914400">
                <a:defRPr sz="1600" dirty="0">
                  <a:solidFill>
                    <a:srgbClr val="FFFFFF"/>
                  </a:solidFill>
                </a:defRPr>
              </a:pPr>
              <a:r>
                <a:t>Start</a:t>
              </a:r>
            </a:p>
          </p:txBody>
        </p:sp>
        <p:sp>
          <p:nvSpPr>
            <p:cNvPr id="4" name="FlowChartProcess4"/>
            <p:cNvSpPr>
              <a:spLocks/>
            </p:cNvSpPr>
            <p:nvPr/>
          </p:nvSpPr>
          <p:spPr>
            <a:xfrm>
              <a:off x="5339715" y="1609344"/>
              <a:ext cx="1700911" cy="639953"/>
            </a:xfrm>
            <a:prstGeom prst="flowChartProcess">
              <a:avLst/>
            </a:prstGeom>
            <a:solidFill>
              <a:srgbClr val="FF9522">
                <a:alpha val="100000"/>
              </a:srgbClr>
            </a:solidFill>
            <a:ln>
              <a:solidFill>
                <a:srgbClr val="BE6427">
                  <a:alpha val="100000"/>
                </a:srgbClr>
              </a:solidFill>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nchor="ctr"/>
            <a:lstStyle/>
            <a:p>
              <a:pPr algn="ctr" defTabSz="914400">
                <a:defRPr sz="1600" dirty="0">
                  <a:solidFill>
                    <a:srgbClr val="FFFFFF"/>
                  </a:solidFill>
                </a:defRPr>
              </a:pPr>
              <a:r>
                <a:t>Alarm Rings</a:t>
              </a:r>
            </a:p>
          </p:txBody>
        </p:sp>
        <p:sp>
          <p:nvSpPr>
            <p:cNvPr id="5" name="FlowChartDecision5"/>
            <p:cNvSpPr>
              <a:spLocks/>
            </p:cNvSpPr>
            <p:nvPr/>
          </p:nvSpPr>
          <p:spPr>
            <a:xfrm>
              <a:off x="5339715" y="2824734"/>
              <a:ext cx="1700911" cy="1241679"/>
            </a:xfrm>
            <a:prstGeom prst="flowChartDecision">
              <a:avLst/>
            </a:prstGeom>
            <a:solidFill>
              <a:srgbClr val="2C73D5">
                <a:alpha val="100000"/>
              </a:srgbClr>
            </a:solidFill>
            <a:ln>
              <a:solidFill>
                <a:srgbClr val="365B9D">
                  <a:alpha val="100000"/>
                </a:srgbClr>
              </a:solidFill>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nchor="ctr"/>
            <a:lstStyle/>
            <a:p>
              <a:pPr algn="ctr" defTabSz="914400">
                <a:defRPr sz="1600" dirty="0">
                  <a:solidFill>
                    <a:srgbClr val="FFFFFF"/>
                  </a:solidFill>
                </a:defRPr>
              </a:pPr>
              <a:r>
                <a:t>Ready to Get Up ?</a:t>
              </a:r>
            </a:p>
          </p:txBody>
        </p:sp>
        <p:sp>
          <p:nvSpPr>
            <p:cNvPr id="7" name="FlowChartTerminator7"/>
            <p:cNvSpPr>
              <a:spLocks/>
            </p:cNvSpPr>
            <p:nvPr/>
          </p:nvSpPr>
          <p:spPr>
            <a:xfrm>
              <a:off x="5337111" y="4765040"/>
              <a:ext cx="1700911" cy="639953"/>
            </a:xfrm>
            <a:prstGeom prst="flowChartTerminator">
              <a:avLst/>
            </a:prstGeom>
            <a:solidFill>
              <a:srgbClr val="2C73D5">
                <a:alpha val="100000"/>
              </a:srgbClr>
            </a:solidFill>
            <a:ln>
              <a:solidFill>
                <a:srgbClr val="365B9D">
                  <a:alpha val="100000"/>
                </a:srgbClr>
              </a:solidFill>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nchor="ctr"/>
            <a:lstStyle/>
            <a:p>
              <a:pPr algn="ctr" defTabSz="914400">
                <a:defRPr sz="1600" dirty="0">
                  <a:solidFill>
                    <a:srgbClr val="FFFFFF"/>
                  </a:solidFill>
                </a:defRPr>
              </a:pPr>
              <a:r>
                <a:rPr dirty="0"/>
                <a:t>End</a:t>
              </a:r>
            </a:p>
          </p:txBody>
        </p:sp>
        <p:sp>
          <p:nvSpPr>
            <p:cNvPr id="8" name="FlowChartProcess8"/>
            <p:cNvSpPr>
              <a:spLocks/>
            </p:cNvSpPr>
            <p:nvPr/>
          </p:nvSpPr>
          <p:spPr>
            <a:xfrm>
              <a:off x="7935595" y="3121533"/>
              <a:ext cx="2028952" cy="635254"/>
            </a:xfrm>
            <a:prstGeom prst="flowChartProcess">
              <a:avLst/>
            </a:prstGeom>
            <a:solidFill>
              <a:srgbClr val="FF9522">
                <a:alpha val="100000"/>
              </a:srgbClr>
            </a:solidFill>
            <a:ln>
              <a:solidFill>
                <a:srgbClr val="BE6427">
                  <a:alpha val="100000"/>
                </a:srgbClr>
              </a:solidFill>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nchor="ctr"/>
            <a:lstStyle/>
            <a:p>
              <a:pPr algn="ctr" defTabSz="914400">
                <a:defRPr sz="1600" dirty="0">
                  <a:solidFill>
                    <a:srgbClr val="FFFFFF"/>
                  </a:solidFill>
                </a:defRPr>
              </a:pPr>
              <a:r>
                <a:rPr dirty="0"/>
                <a:t>Hit Snooze button</a:t>
              </a:r>
            </a:p>
          </p:txBody>
        </p:sp>
        <p:sp>
          <p:nvSpPr>
            <p:cNvPr id="9" name="FlowChartDelay9"/>
            <p:cNvSpPr>
              <a:spLocks/>
            </p:cNvSpPr>
            <p:nvPr/>
          </p:nvSpPr>
          <p:spPr>
            <a:xfrm>
              <a:off x="7935595" y="1614424"/>
              <a:ext cx="2028952" cy="629793"/>
            </a:xfrm>
            <a:prstGeom prst="flowChartDelay">
              <a:avLst/>
            </a:prstGeom>
            <a:solidFill>
              <a:srgbClr val="FF9522">
                <a:alpha val="100000"/>
              </a:srgbClr>
            </a:solidFill>
            <a:ln>
              <a:solidFill>
                <a:srgbClr val="BE6427">
                  <a:alpha val="100000"/>
                </a:srgbClr>
              </a:solidFill>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nchor="ctr"/>
            <a:lstStyle/>
            <a:p>
              <a:pPr algn="ctr" defTabSz="914400">
                <a:defRPr sz="1600" dirty="0">
                  <a:solidFill>
                    <a:srgbClr val="FFFFFF"/>
                  </a:solidFill>
                </a:defRPr>
              </a:pPr>
              <a:r>
                <a:t>Relay</a:t>
              </a:r>
            </a:p>
          </p:txBody>
        </p:sp>
        <p:cxnSp>
          <p:nvCxnSpPr>
            <p:cNvPr id="10" name="Straight10"/>
            <p:cNvCxnSpPr>
              <a:stCxn id="3" idx="2"/>
              <a:endCxn id="4" idx="0"/>
            </p:cNvCxnSpPr>
            <p:nvPr/>
          </p:nvCxnSpPr>
          <p:spPr>
            <a:xfrm>
              <a:off x="6190171" y="1101598"/>
              <a:ext cx="0" cy="507746"/>
            </a:xfrm>
            <a:prstGeom prst="straightConnector1">
              <a:avLst/>
            </a:prstGeom>
            <a:ln>
              <a:headEnd type="none"/>
              <a:tailEnd type="triangle"/>
            </a:ln>
          </p:spPr>
          <p:style>
            <a:lnRef idx="2">
              <a:schemeClr val="accent1"/>
            </a:lnRef>
            <a:fillRef idx="1">
              <a:schemeClr val="accent1"/>
            </a:fillRef>
            <a:effectRef idx="0">
              <a:schemeClr val="accent1"/>
            </a:effectRef>
            <a:fontRef idx="minor">
              <a:schemeClr val="tx1"/>
            </a:fontRef>
          </p:style>
        </p:cxnSp>
        <p:cxnSp>
          <p:nvCxnSpPr>
            <p:cNvPr id="11" name="Straight11"/>
            <p:cNvCxnSpPr>
              <a:stCxn id="4" idx="2"/>
              <a:endCxn id="5" idx="0"/>
            </p:cNvCxnSpPr>
            <p:nvPr/>
          </p:nvCxnSpPr>
          <p:spPr>
            <a:xfrm>
              <a:off x="6190171" y="2249297"/>
              <a:ext cx="0" cy="575437"/>
            </a:xfrm>
            <a:prstGeom prst="straightConnector1">
              <a:avLst/>
            </a:prstGeom>
            <a:ln>
              <a:headEnd type="none"/>
              <a:tailEnd type="triangle"/>
            </a:ln>
          </p:spPr>
          <p:style>
            <a:lnRef idx="2">
              <a:schemeClr val="accent1"/>
            </a:lnRef>
            <a:fillRef idx="1">
              <a:schemeClr val="accent1"/>
            </a:fillRef>
            <a:effectRef idx="0">
              <a:schemeClr val="accent1"/>
            </a:effectRef>
            <a:fontRef idx="minor">
              <a:schemeClr val="tx1"/>
            </a:fontRef>
          </p:style>
        </p:cxnSp>
        <p:cxnSp>
          <p:nvCxnSpPr>
            <p:cNvPr id="12" name="Straight12"/>
            <p:cNvCxnSpPr>
              <a:stCxn id="5" idx="3"/>
              <a:endCxn id="8" idx="1"/>
            </p:cNvCxnSpPr>
            <p:nvPr/>
          </p:nvCxnSpPr>
          <p:spPr>
            <a:xfrm flipV="1">
              <a:off x="7040626" y="3439160"/>
              <a:ext cx="894969" cy="6414"/>
            </a:xfrm>
            <a:prstGeom prst="straightConnector1">
              <a:avLst/>
            </a:prstGeom>
            <a:ln>
              <a:headEnd type="none"/>
              <a:tailEnd type="triangle"/>
            </a:ln>
          </p:spPr>
          <p:style>
            <a:lnRef idx="2">
              <a:schemeClr val="accent1"/>
            </a:lnRef>
            <a:fillRef idx="1">
              <a:schemeClr val="accent1"/>
            </a:fillRef>
            <a:effectRef idx="0">
              <a:schemeClr val="accent1"/>
            </a:effectRef>
            <a:fontRef idx="minor">
              <a:schemeClr val="tx1"/>
            </a:fontRef>
          </p:style>
        </p:cxnSp>
        <p:cxnSp>
          <p:nvCxnSpPr>
            <p:cNvPr id="13" name="Straight13"/>
            <p:cNvCxnSpPr>
              <a:stCxn id="8" idx="0"/>
              <a:endCxn id="9" idx="2"/>
            </p:cNvCxnSpPr>
            <p:nvPr/>
          </p:nvCxnSpPr>
          <p:spPr>
            <a:xfrm flipV="1">
              <a:off x="8950071" y="2244217"/>
              <a:ext cx="0" cy="877316"/>
            </a:xfrm>
            <a:prstGeom prst="straightConnector1">
              <a:avLst/>
            </a:prstGeom>
            <a:ln>
              <a:headEnd type="none"/>
              <a:tailEnd type="triangle"/>
            </a:ln>
          </p:spPr>
          <p:style>
            <a:lnRef idx="2">
              <a:schemeClr val="accent1"/>
            </a:lnRef>
            <a:fillRef idx="1">
              <a:schemeClr val="accent1"/>
            </a:fillRef>
            <a:effectRef idx="0">
              <a:schemeClr val="accent1"/>
            </a:effectRef>
            <a:fontRef idx="minor">
              <a:schemeClr val="tx1"/>
            </a:fontRef>
          </p:style>
        </p:cxnSp>
        <p:cxnSp>
          <p:nvCxnSpPr>
            <p:cNvPr id="14" name="Straight14"/>
            <p:cNvCxnSpPr>
              <a:stCxn id="9" idx="1"/>
              <a:endCxn id="4" idx="3"/>
            </p:cNvCxnSpPr>
            <p:nvPr/>
          </p:nvCxnSpPr>
          <p:spPr>
            <a:xfrm flipH="1">
              <a:off x="7040626" y="1929321"/>
              <a:ext cx="894969" cy="0"/>
            </a:xfrm>
            <a:prstGeom prst="straightConnector1">
              <a:avLst/>
            </a:prstGeom>
            <a:ln>
              <a:headEnd type="none"/>
              <a:tailEnd type="triangle"/>
            </a:ln>
          </p:spPr>
          <p:style>
            <a:lnRef idx="2">
              <a:schemeClr val="accent1"/>
            </a:lnRef>
            <a:fillRef idx="1">
              <a:schemeClr val="accent1"/>
            </a:fillRef>
            <a:effectRef idx="0">
              <a:schemeClr val="accent1"/>
            </a:effectRef>
            <a:fontRef idx="minor">
              <a:schemeClr val="tx1"/>
            </a:fontRef>
          </p:style>
        </p:cxnSp>
        <p:cxnSp>
          <p:nvCxnSpPr>
            <p:cNvPr id="15" name="Straight15"/>
            <p:cNvCxnSpPr>
              <a:cxnSpLocks/>
              <a:stCxn id="5" idx="2"/>
            </p:cNvCxnSpPr>
            <p:nvPr/>
          </p:nvCxnSpPr>
          <p:spPr>
            <a:xfrm flipH="1">
              <a:off x="6187567" y="4066413"/>
              <a:ext cx="2604" cy="698627"/>
            </a:xfrm>
            <a:prstGeom prst="straightConnector1">
              <a:avLst/>
            </a:prstGeom>
            <a:ln>
              <a:headEnd type="none"/>
              <a:tailEnd type="triangle"/>
            </a:ln>
          </p:spPr>
          <p:style>
            <a:lnRef idx="2">
              <a:schemeClr val="accent1"/>
            </a:lnRef>
            <a:fillRef idx="1">
              <a:schemeClr val="accent1"/>
            </a:fillRef>
            <a:effectRef idx="0">
              <a:schemeClr val="accent1"/>
            </a:effectRef>
            <a:fontRef idx="minor">
              <a:schemeClr val="tx1"/>
            </a:fontRef>
          </p:style>
        </p:cxnSp>
        <p:sp>
          <p:nvSpPr>
            <p:cNvPr id="17" name="TextBox17"/>
            <p:cNvSpPr txBox="1">
              <a:spLocks noChangeArrowheads="1"/>
            </p:cNvSpPr>
            <p:nvPr/>
          </p:nvSpPr>
          <p:spPr>
            <a:xfrm>
              <a:off x="7163054" y="3116961"/>
              <a:ext cx="651764" cy="332994"/>
            </a:xfrm>
            <a:prstGeom prst="rect">
              <a:avLst/>
            </a:prstGeom>
            <a:ln>
              <a:headEnd type="none"/>
              <a:tailEnd type="none"/>
            </a:ln>
          </p:spPr>
          <p:txBody>
            <a:bodyPr wrap="square">
              <a:spAutoFit/>
            </a:bodyPr>
            <a:lstStyle/>
            <a:p>
              <a:pPr defTabSz="914400"/>
              <a:r>
                <a:t>No</a:t>
              </a:r>
            </a:p>
          </p:txBody>
        </p:sp>
        <p:sp>
          <p:nvSpPr>
            <p:cNvPr id="18" name="TextBox18"/>
            <p:cNvSpPr txBox="1">
              <a:spLocks noChangeArrowheads="1"/>
            </p:cNvSpPr>
            <p:nvPr/>
          </p:nvSpPr>
          <p:spPr>
            <a:xfrm>
              <a:off x="6187567" y="4165473"/>
              <a:ext cx="636143" cy="333121"/>
            </a:xfrm>
            <a:prstGeom prst="rect">
              <a:avLst/>
            </a:prstGeom>
            <a:ln>
              <a:headEnd type="none"/>
              <a:tailEnd type="none"/>
            </a:ln>
          </p:spPr>
          <p:txBody>
            <a:bodyPr wrap="square">
              <a:spAutoFit/>
            </a:bodyPr>
            <a:lstStyle/>
            <a:p>
              <a:pPr defTabSz="914400"/>
              <a:r>
                <a:t>Yes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DAD6135F-7152-E3CC-14A5-E3C04A93A6B4}"/>
              </a:ext>
            </a:extLst>
          </p:cNvPr>
          <p:cNvGraphicFramePr/>
          <p:nvPr>
            <p:extLst>
              <p:ext uri="{D42A27DB-BD31-4B8C-83A1-F6EECF244321}">
                <p14:modId xmlns:p14="http://schemas.microsoft.com/office/powerpoint/2010/main" val="1949606840"/>
              </p:ext>
            </p:extLst>
          </p:nvPr>
        </p:nvGraphicFramePr>
        <p:xfrm>
          <a:off x="2228893" y="674793"/>
          <a:ext cx="7734213" cy="55084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01808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848" y="0"/>
            <a:ext cx="10058400" cy="1609344"/>
          </a:xfrm>
          <a:ln>
            <a:headEnd type="none"/>
            <a:tailEnd type="none"/>
          </a:ln>
        </p:spPr>
        <p:txBody>
          <a:bodyPr wrap="square"/>
          <a:lstStyle/>
          <a:p>
            <a:pPr algn="ctr" defTabSz="914400"/>
            <a:r>
              <a:rPr sz="2800" b="1" cap="all" dirty="0">
                <a:latin typeface="Arial"/>
              </a:rPr>
              <a:t>Target </a:t>
            </a:r>
            <a:r>
              <a:rPr sz="1800" dirty="0">
                <a:latin typeface="Arial"/>
              </a:rPr>
              <a:t>Vs </a:t>
            </a:r>
            <a:r>
              <a:rPr sz="2800" b="1" dirty="0">
                <a:latin typeface="Arial"/>
              </a:rPr>
              <a:t>PERFORMANCE</a:t>
            </a:r>
          </a:p>
        </p:txBody>
      </p:sp>
      <p:graphicFrame>
        <p:nvGraphicFramePr>
          <p:cNvPr id="3" name="Table 3"/>
          <p:cNvGraphicFramePr/>
          <p:nvPr/>
        </p:nvGraphicFramePr>
        <p:xfrm>
          <a:off x="786384" y="1216152"/>
          <a:ext cx="10858500" cy="5263388"/>
        </p:xfrm>
        <a:graphic>
          <a:graphicData uri="http://schemas.openxmlformats.org/drawingml/2006/table">
            <a:tbl>
              <a:tblPr firstRow="1" bandRow="1">
                <a:tableStyleId>{93296810-A885-4BE3-A3E7-6D5BEEA58F35}</a:tableStyleId>
              </a:tblPr>
              <a:tblGrid>
                <a:gridCol w="1206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1206500">
                  <a:extLst>
                    <a:ext uri="{9D8B030D-6E8A-4147-A177-3AD203B41FA5}">
                      <a16:colId xmlns:a16="http://schemas.microsoft.com/office/drawing/2014/main" val="20006"/>
                    </a:ext>
                  </a:extLst>
                </a:gridCol>
                <a:gridCol w="1206500">
                  <a:extLst>
                    <a:ext uri="{9D8B030D-6E8A-4147-A177-3AD203B41FA5}">
                      <a16:colId xmlns:a16="http://schemas.microsoft.com/office/drawing/2014/main" val="20007"/>
                    </a:ext>
                  </a:extLst>
                </a:gridCol>
                <a:gridCol w="1206500">
                  <a:extLst>
                    <a:ext uri="{9D8B030D-6E8A-4147-A177-3AD203B41FA5}">
                      <a16:colId xmlns:a16="http://schemas.microsoft.com/office/drawing/2014/main" val="20008"/>
                    </a:ext>
                  </a:extLst>
                </a:gridCol>
              </a:tblGrid>
              <a:tr h="1034288">
                <a:tc>
                  <a:txBody>
                    <a:bodyPr/>
                    <a:lstStyle/>
                    <a:p>
                      <a:pPr algn="ctr" defTabSz="914400"/>
                      <a:r>
                        <a:rPr sz="1400" b="1" dirty="0">
                          <a:latin typeface="Arial"/>
                        </a:rPr>
                        <a:t>Month</a:t>
                      </a:r>
                    </a:p>
                  </a:txBody>
                  <a:tcPr anchor="ctr" horzOverflow="overflow"/>
                </a:tc>
                <a:tc>
                  <a:txBody>
                    <a:bodyPr/>
                    <a:lstStyle/>
                    <a:p>
                      <a:pPr algn="ctr" defTabSz="914400"/>
                      <a:r>
                        <a:rPr sz="1400" b="1" dirty="0">
                          <a:latin typeface="Arial"/>
                        </a:rPr>
                        <a:t>Product A</a:t>
                      </a:r>
                    </a:p>
                  </a:txBody>
                  <a:tcPr anchor="ctr" horzOverflow="overflow"/>
                </a:tc>
                <a:tc>
                  <a:txBody>
                    <a:bodyPr/>
                    <a:lstStyle/>
                    <a:p>
                      <a:pPr algn="ctr" defTabSz="914400"/>
                      <a:r>
                        <a:rPr sz="1400" b="1" dirty="0">
                          <a:latin typeface="Arial"/>
                        </a:rPr>
                        <a:t>Product B</a:t>
                      </a:r>
                    </a:p>
                  </a:txBody>
                  <a:tcPr anchor="ctr" horzOverflow="overflow"/>
                </a:tc>
                <a:tc>
                  <a:txBody>
                    <a:bodyPr/>
                    <a:lstStyle/>
                    <a:p>
                      <a:pPr algn="ctr" defTabSz="914400"/>
                      <a:r>
                        <a:rPr sz="1400" b="1" dirty="0">
                          <a:latin typeface="Arial"/>
                        </a:rPr>
                        <a:t>Product C</a:t>
                      </a:r>
                    </a:p>
                  </a:txBody>
                  <a:tcPr anchor="ctr" horzOverflow="overflow"/>
                </a:tc>
                <a:tc>
                  <a:txBody>
                    <a:bodyPr/>
                    <a:lstStyle/>
                    <a:p>
                      <a:pPr algn="ctr" defTabSz="914400"/>
                      <a:r>
                        <a:rPr sz="1400" b="1" dirty="0">
                          <a:latin typeface="Arial"/>
                        </a:rPr>
                        <a:t>Product D</a:t>
                      </a:r>
                    </a:p>
                  </a:txBody>
                  <a:tcPr anchor="ctr" horzOverflow="overflow"/>
                </a:tc>
                <a:tc>
                  <a:txBody>
                    <a:bodyPr/>
                    <a:lstStyle/>
                    <a:p>
                      <a:pPr algn="ctr" defTabSz="914400"/>
                      <a:r>
                        <a:rPr sz="1400" b="1" dirty="0">
                          <a:latin typeface="Arial"/>
                        </a:rPr>
                        <a:t>Product E</a:t>
                      </a:r>
                    </a:p>
                  </a:txBody>
                  <a:tcPr anchor="ctr" horzOverflow="overflow"/>
                </a:tc>
                <a:tc>
                  <a:txBody>
                    <a:bodyPr/>
                    <a:lstStyle/>
                    <a:p>
                      <a:pPr algn="ctr" defTabSz="914400"/>
                      <a:r>
                        <a:rPr sz="1400" b="1" dirty="0">
                          <a:latin typeface="Arial"/>
                        </a:rPr>
                        <a:t>Product F</a:t>
                      </a:r>
                    </a:p>
                  </a:txBody>
                  <a:tcPr anchor="ctr" horzOverflow="overflow"/>
                </a:tc>
                <a:tc>
                  <a:txBody>
                    <a:bodyPr/>
                    <a:lstStyle/>
                    <a:p>
                      <a:pPr algn="ctr" defTabSz="914400"/>
                      <a:r>
                        <a:rPr sz="1400" b="1" dirty="0">
                          <a:latin typeface="Arial"/>
                        </a:rPr>
                        <a:t>Average</a:t>
                      </a:r>
                    </a:p>
                  </a:txBody>
                  <a:tcPr anchor="ctr" horzOverflow="overflow"/>
                </a:tc>
                <a:tc>
                  <a:txBody>
                    <a:bodyPr/>
                    <a:lstStyle/>
                    <a:p>
                      <a:pPr algn="ctr" defTabSz="914400"/>
                      <a:r>
                        <a:rPr sz="1400" b="1" dirty="0">
                          <a:latin typeface="Arial"/>
                        </a:rPr>
                        <a:t>Target</a:t>
                      </a:r>
                    </a:p>
                  </a:txBody>
                  <a:tcPr anchor="ctr" horzOverflow="overflow"/>
                </a:tc>
                <a:extLst>
                  <a:ext uri="{0D108BD9-81ED-4DB2-BD59-A6C34878D82A}">
                    <a16:rowId xmlns:a16="http://schemas.microsoft.com/office/drawing/2014/main" val="10000"/>
                  </a:ext>
                </a:extLst>
              </a:tr>
              <a:tr h="469900">
                <a:tc>
                  <a:txBody>
                    <a:bodyPr/>
                    <a:lstStyle/>
                    <a:p>
                      <a:pPr algn="l" defTabSz="914400"/>
                      <a:r>
                        <a:rPr sz="1400" dirty="0">
                          <a:latin typeface="Arial"/>
                        </a:rPr>
                        <a:t>Jan</a:t>
                      </a:r>
                    </a:p>
                  </a:txBody>
                  <a:tcPr horzOverflow="overflow"/>
                </a:tc>
                <a:tc>
                  <a:txBody>
                    <a:bodyPr/>
                    <a:lstStyle/>
                    <a:p>
                      <a:pPr algn="l" defTabSz="914400"/>
                      <a:r>
                        <a:rPr sz="1400" dirty="0">
                          <a:latin typeface="Arial"/>
                        </a:rPr>
                        <a:t>20000</a:t>
                      </a:r>
                    </a:p>
                  </a:txBody>
                  <a:tcPr horzOverflow="overflow"/>
                </a:tc>
                <a:tc>
                  <a:txBody>
                    <a:bodyPr/>
                    <a:lstStyle/>
                    <a:p>
                      <a:pPr algn="l" defTabSz="914400"/>
                      <a:r>
                        <a:rPr sz="1400" dirty="0">
                          <a:latin typeface="Arial"/>
                        </a:rPr>
                        <a:t>4200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12000</a:t>
                      </a:r>
                    </a:p>
                  </a:txBody>
                  <a:tcPr horzOverflow="overflow"/>
                </a:tc>
                <a:tc>
                  <a:txBody>
                    <a:bodyPr/>
                    <a:lstStyle/>
                    <a:p>
                      <a:pPr algn="l" defTabSz="914400"/>
                      <a:r>
                        <a:rPr sz="1400" dirty="0">
                          <a:latin typeface="Arial"/>
                        </a:rPr>
                        <a:t>4700</a:t>
                      </a:r>
                    </a:p>
                  </a:txBody>
                  <a:tcPr horzOverflow="overflow"/>
                </a:tc>
                <a:tc>
                  <a:txBody>
                    <a:bodyPr/>
                    <a:lstStyle/>
                    <a:p>
                      <a:pPr algn="l" defTabSz="914400"/>
                      <a:r>
                        <a:rPr sz="1400" dirty="0">
                          <a:latin typeface="Arial"/>
                        </a:rPr>
                        <a:t>15000</a:t>
                      </a:r>
                    </a:p>
                  </a:txBody>
                  <a:tcPr horzOverflow="overflow"/>
                </a:tc>
                <a:tc>
                  <a:txBody>
                    <a:bodyPr/>
                    <a:lstStyle/>
                    <a:p>
                      <a:pPr algn="l" defTabSz="914400"/>
                      <a:r>
                        <a:rPr sz="1400" dirty="0">
                          <a:latin typeface="Arial"/>
                        </a:rPr>
                        <a:t>10650</a:t>
                      </a:r>
                    </a:p>
                  </a:txBody>
                  <a:tcPr horzOverflow="overflow"/>
                </a:tc>
                <a:tc>
                  <a:txBody>
                    <a:bodyPr/>
                    <a:lstStyle/>
                    <a:p>
                      <a:pPr algn="l" defTabSz="914400"/>
                      <a:r>
                        <a:rPr sz="1400" dirty="0">
                          <a:latin typeface="Arial"/>
                        </a:rPr>
                        <a:t>35000</a:t>
                      </a:r>
                    </a:p>
                  </a:txBody>
                  <a:tcPr horzOverflow="overflow"/>
                </a:tc>
                <a:extLst>
                  <a:ext uri="{0D108BD9-81ED-4DB2-BD59-A6C34878D82A}">
                    <a16:rowId xmlns:a16="http://schemas.microsoft.com/office/drawing/2014/main" val="10001"/>
                  </a:ext>
                </a:extLst>
              </a:tr>
              <a:tr h="469900">
                <a:tc>
                  <a:txBody>
                    <a:bodyPr/>
                    <a:lstStyle/>
                    <a:p>
                      <a:pPr algn="l" defTabSz="914400"/>
                      <a:r>
                        <a:rPr sz="1400" dirty="0">
                          <a:latin typeface="Arial"/>
                        </a:rPr>
                        <a:t>Feb</a:t>
                      </a:r>
                    </a:p>
                  </a:txBody>
                  <a:tcPr horzOverflow="overflow"/>
                </a:tc>
                <a:tc>
                  <a:txBody>
                    <a:bodyPr/>
                    <a:lstStyle/>
                    <a:p>
                      <a:pPr algn="l" defTabSz="914400"/>
                      <a:r>
                        <a:rPr sz="1400" dirty="0">
                          <a:latin typeface="Arial"/>
                        </a:rPr>
                        <a:t>8300</a:t>
                      </a:r>
                    </a:p>
                  </a:txBody>
                  <a:tcPr horzOverflow="overflow"/>
                </a:tc>
                <a:tc>
                  <a:txBody>
                    <a:bodyPr/>
                    <a:lstStyle/>
                    <a:p>
                      <a:pPr algn="l" defTabSz="914400"/>
                      <a:r>
                        <a:rPr sz="1400" dirty="0">
                          <a:latin typeface="Arial"/>
                        </a:rPr>
                        <a:t>19000</a:t>
                      </a:r>
                    </a:p>
                  </a:txBody>
                  <a:tcPr horzOverflow="overflow"/>
                </a:tc>
                <a:tc>
                  <a:txBody>
                    <a:bodyPr/>
                    <a:lstStyle/>
                    <a:p>
                      <a:pPr algn="l" defTabSz="914400"/>
                      <a:r>
                        <a:rPr sz="1400" dirty="0">
                          <a:latin typeface="Arial"/>
                        </a:rPr>
                        <a:t>21000</a:t>
                      </a:r>
                    </a:p>
                  </a:txBody>
                  <a:tcPr horzOverflow="overflow"/>
                </a:tc>
                <a:tc>
                  <a:txBody>
                    <a:bodyPr/>
                    <a:lstStyle/>
                    <a:p>
                      <a:pPr algn="l" defTabSz="914400"/>
                      <a:r>
                        <a:rPr sz="1400" dirty="0">
                          <a:latin typeface="Arial"/>
                        </a:rPr>
                        <a:t>15230</a:t>
                      </a:r>
                    </a:p>
                  </a:txBody>
                  <a:tcPr horzOverflow="overflow"/>
                </a:tc>
                <a:tc>
                  <a:txBody>
                    <a:bodyPr/>
                    <a:lstStyle/>
                    <a:p>
                      <a:pPr algn="l" defTabSz="914400"/>
                      <a:r>
                        <a:rPr sz="1400" dirty="0">
                          <a:latin typeface="Arial"/>
                        </a:rPr>
                        <a:t>7230</a:t>
                      </a:r>
                    </a:p>
                  </a:txBody>
                  <a:tcPr horzOverflow="overflow"/>
                </a:tc>
                <a:tc>
                  <a:txBody>
                    <a:bodyPr/>
                    <a:lstStyle/>
                    <a:p>
                      <a:pPr algn="l" defTabSz="914400"/>
                      <a:r>
                        <a:rPr sz="1400" dirty="0">
                          <a:latin typeface="Arial"/>
                        </a:rPr>
                        <a:t>1800</a:t>
                      </a:r>
                    </a:p>
                  </a:txBody>
                  <a:tcPr horzOverflow="overflow"/>
                </a:tc>
                <a:tc>
                  <a:txBody>
                    <a:bodyPr/>
                    <a:lstStyle/>
                    <a:p>
                      <a:pPr algn="l" defTabSz="914400"/>
                      <a:r>
                        <a:rPr sz="1400" dirty="0">
                          <a:latin typeface="Arial"/>
                        </a:rPr>
                        <a:t>12093</a:t>
                      </a:r>
                    </a:p>
                  </a:txBody>
                  <a:tcPr horzOverflow="overflow"/>
                </a:tc>
                <a:tc>
                  <a:txBody>
                    <a:bodyPr/>
                    <a:lstStyle/>
                    <a:p>
                      <a:pPr algn="l" defTabSz="914400"/>
                      <a:r>
                        <a:rPr sz="1400" dirty="0">
                          <a:latin typeface="Arial"/>
                        </a:rPr>
                        <a:t>18000</a:t>
                      </a:r>
                    </a:p>
                  </a:txBody>
                  <a:tcPr horzOverflow="overflow"/>
                </a:tc>
                <a:extLst>
                  <a:ext uri="{0D108BD9-81ED-4DB2-BD59-A6C34878D82A}">
                    <a16:rowId xmlns:a16="http://schemas.microsoft.com/office/drawing/2014/main" val="10002"/>
                  </a:ext>
                </a:extLst>
              </a:tr>
              <a:tr h="469900">
                <a:tc>
                  <a:txBody>
                    <a:bodyPr/>
                    <a:lstStyle/>
                    <a:p>
                      <a:pPr algn="l" defTabSz="914400"/>
                      <a:r>
                        <a:rPr sz="1400" dirty="0">
                          <a:latin typeface="Arial"/>
                        </a:rPr>
                        <a:t>Mar</a:t>
                      </a:r>
                    </a:p>
                  </a:txBody>
                  <a:tcPr horzOverflow="overflow"/>
                </a:tc>
                <a:tc>
                  <a:txBody>
                    <a:bodyPr/>
                    <a:lstStyle/>
                    <a:p>
                      <a:pPr algn="l" defTabSz="914400"/>
                      <a:r>
                        <a:rPr sz="1400" dirty="0">
                          <a:latin typeface="Arial"/>
                        </a:rPr>
                        <a:t>4600</a:t>
                      </a:r>
                    </a:p>
                  </a:txBody>
                  <a:tcPr horzOverflow="overflow"/>
                </a:tc>
                <a:tc>
                  <a:txBody>
                    <a:bodyPr/>
                    <a:lstStyle/>
                    <a:p>
                      <a:pPr algn="l" defTabSz="914400"/>
                      <a:r>
                        <a:rPr sz="1400" dirty="0">
                          <a:latin typeface="Arial"/>
                        </a:rPr>
                        <a:t>9000</a:t>
                      </a:r>
                    </a:p>
                  </a:txBody>
                  <a:tcPr horzOverflow="overflow"/>
                </a:tc>
                <a:tc>
                  <a:txBody>
                    <a:bodyPr/>
                    <a:lstStyle/>
                    <a:p>
                      <a:pPr algn="l" defTabSz="914400"/>
                      <a:r>
                        <a:rPr sz="1400" dirty="0">
                          <a:latin typeface="Arial"/>
                        </a:rPr>
                        <a:t>7500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30000</a:t>
                      </a:r>
                    </a:p>
                  </a:txBody>
                  <a:tcPr horzOverflow="overflow"/>
                </a:tc>
                <a:tc>
                  <a:txBody>
                    <a:bodyPr/>
                    <a:lstStyle/>
                    <a:p>
                      <a:pPr algn="l" defTabSz="914400"/>
                      <a:r>
                        <a:rPr sz="1400" dirty="0">
                          <a:latin typeface="Arial"/>
                        </a:rPr>
                        <a:t>22000</a:t>
                      </a:r>
                    </a:p>
                  </a:txBody>
                  <a:tcPr horzOverflow="overflow"/>
                </a:tc>
                <a:tc>
                  <a:txBody>
                    <a:bodyPr/>
                    <a:lstStyle/>
                    <a:p>
                      <a:pPr algn="l" defTabSz="914400"/>
                      <a:r>
                        <a:rPr sz="1400" dirty="0">
                          <a:latin typeface="Arial"/>
                        </a:rPr>
                        <a:t>13517</a:t>
                      </a:r>
                    </a:p>
                  </a:txBody>
                  <a:tcPr horzOverflow="overflow"/>
                </a:tc>
                <a:tc>
                  <a:txBody>
                    <a:bodyPr/>
                    <a:lstStyle/>
                    <a:p>
                      <a:pPr algn="l" defTabSz="914400"/>
                      <a:r>
                        <a:rPr sz="1400" dirty="0">
                          <a:latin typeface="Arial"/>
                        </a:rPr>
                        <a:t>13200</a:t>
                      </a:r>
                    </a:p>
                  </a:txBody>
                  <a:tcPr horzOverflow="overflow"/>
                </a:tc>
                <a:extLst>
                  <a:ext uri="{0D108BD9-81ED-4DB2-BD59-A6C34878D82A}">
                    <a16:rowId xmlns:a16="http://schemas.microsoft.com/office/drawing/2014/main" val="10003"/>
                  </a:ext>
                </a:extLst>
              </a:tr>
              <a:tr h="469900">
                <a:tc>
                  <a:txBody>
                    <a:bodyPr/>
                    <a:lstStyle/>
                    <a:p>
                      <a:pPr algn="l" defTabSz="914400"/>
                      <a:r>
                        <a:rPr sz="1400" dirty="0">
                          <a:latin typeface="Arial"/>
                        </a:rPr>
                        <a:t>Apr</a:t>
                      </a:r>
                    </a:p>
                  </a:txBody>
                  <a:tcPr horzOverflow="overflow"/>
                </a:tc>
                <a:tc>
                  <a:txBody>
                    <a:bodyPr/>
                    <a:lstStyle/>
                    <a:p>
                      <a:pPr algn="l" defTabSz="914400"/>
                      <a:r>
                        <a:rPr sz="1400" dirty="0">
                          <a:latin typeface="Arial"/>
                        </a:rPr>
                        <a:t>3530</a:t>
                      </a:r>
                    </a:p>
                  </a:txBody>
                  <a:tcPr horzOverflow="overflow"/>
                </a:tc>
                <a:tc>
                  <a:txBody>
                    <a:bodyPr/>
                    <a:lstStyle/>
                    <a:p>
                      <a:pPr algn="l" defTabSz="914400"/>
                      <a:r>
                        <a:rPr sz="1400" dirty="0">
                          <a:latin typeface="Arial"/>
                        </a:rPr>
                        <a:t>13430</a:t>
                      </a:r>
                    </a:p>
                  </a:txBody>
                  <a:tcPr horzOverflow="overflow"/>
                </a:tc>
                <a:tc>
                  <a:txBody>
                    <a:bodyPr/>
                    <a:lstStyle/>
                    <a:p>
                      <a:pPr algn="l" defTabSz="914400"/>
                      <a:r>
                        <a:rPr sz="1400" dirty="0">
                          <a:latin typeface="Arial"/>
                        </a:rPr>
                        <a:t>3550</a:t>
                      </a:r>
                    </a:p>
                  </a:txBody>
                  <a:tcPr horzOverflow="overflow"/>
                </a:tc>
                <a:tc>
                  <a:txBody>
                    <a:bodyPr/>
                    <a:lstStyle/>
                    <a:p>
                      <a:pPr algn="l" defTabSz="914400"/>
                      <a:r>
                        <a:rPr sz="1400" dirty="0">
                          <a:latin typeface="Arial"/>
                        </a:rPr>
                        <a:t>10670</a:t>
                      </a:r>
                    </a:p>
                  </a:txBody>
                  <a:tcPr horzOverflow="overflow"/>
                </a:tc>
                <a:tc>
                  <a:txBody>
                    <a:bodyPr/>
                    <a:lstStyle/>
                    <a:p>
                      <a:pPr algn="l" defTabSz="914400"/>
                      <a:r>
                        <a:rPr sz="1400" dirty="0">
                          <a:latin typeface="Arial"/>
                        </a:rPr>
                        <a:t>27860</a:t>
                      </a:r>
                    </a:p>
                  </a:txBody>
                  <a:tcPr horzOverflow="overflow"/>
                </a:tc>
                <a:tc>
                  <a:txBody>
                    <a:bodyPr/>
                    <a:lstStyle/>
                    <a:p>
                      <a:pPr algn="l" defTabSz="914400"/>
                      <a:r>
                        <a:rPr sz="1400" dirty="0">
                          <a:latin typeface="Arial"/>
                        </a:rPr>
                        <a:t>5414</a:t>
                      </a:r>
                    </a:p>
                  </a:txBody>
                  <a:tcPr horzOverflow="overflow"/>
                </a:tc>
                <a:tc>
                  <a:txBody>
                    <a:bodyPr/>
                    <a:lstStyle/>
                    <a:p>
                      <a:pPr algn="l" defTabSz="914400"/>
                      <a:r>
                        <a:rPr sz="1400" dirty="0">
                          <a:latin typeface="Arial"/>
                        </a:rPr>
                        <a:t>10742</a:t>
                      </a:r>
                    </a:p>
                  </a:txBody>
                  <a:tcPr horzOverflow="overflow"/>
                </a:tc>
                <a:tc>
                  <a:txBody>
                    <a:bodyPr/>
                    <a:lstStyle/>
                    <a:p>
                      <a:pPr algn="l" defTabSz="914400"/>
                      <a:r>
                        <a:rPr sz="1400" dirty="0">
                          <a:latin typeface="Arial"/>
                        </a:rPr>
                        <a:t>50000</a:t>
                      </a:r>
                    </a:p>
                  </a:txBody>
                  <a:tcPr horzOverflow="overflow"/>
                </a:tc>
                <a:extLst>
                  <a:ext uri="{0D108BD9-81ED-4DB2-BD59-A6C34878D82A}">
                    <a16:rowId xmlns:a16="http://schemas.microsoft.com/office/drawing/2014/main" val="10004"/>
                  </a:ext>
                </a:extLst>
              </a:tr>
              <a:tr h="469900">
                <a:tc>
                  <a:txBody>
                    <a:bodyPr/>
                    <a:lstStyle/>
                    <a:p>
                      <a:pPr algn="l" defTabSz="914400"/>
                      <a:r>
                        <a:rPr sz="1400" dirty="0">
                          <a:latin typeface="Arial"/>
                        </a:rPr>
                        <a:t>May</a:t>
                      </a:r>
                    </a:p>
                  </a:txBody>
                  <a:tcPr horzOverflow="overflow"/>
                </a:tc>
                <a:tc>
                  <a:txBody>
                    <a:bodyPr/>
                    <a:lstStyle/>
                    <a:p>
                      <a:pPr algn="l" defTabSz="914400"/>
                      <a:r>
                        <a:rPr sz="1400" dirty="0">
                          <a:latin typeface="Arial"/>
                        </a:rPr>
                        <a:t>10293</a:t>
                      </a:r>
                    </a:p>
                  </a:txBody>
                  <a:tcPr horzOverflow="overflow"/>
                </a:tc>
                <a:tc>
                  <a:txBody>
                    <a:bodyPr/>
                    <a:lstStyle/>
                    <a:p>
                      <a:pPr algn="l" defTabSz="914400"/>
                      <a:r>
                        <a:rPr sz="1400" dirty="0">
                          <a:latin typeface="Arial"/>
                        </a:rPr>
                        <a:t>23760</a:t>
                      </a:r>
                    </a:p>
                  </a:txBody>
                  <a:tcPr horzOverflow="overflow"/>
                </a:tc>
                <a:tc>
                  <a:txBody>
                    <a:bodyPr/>
                    <a:lstStyle/>
                    <a:p>
                      <a:pPr algn="l" defTabSz="914400"/>
                      <a:r>
                        <a:rPr sz="1400" dirty="0">
                          <a:latin typeface="Arial"/>
                        </a:rPr>
                        <a:t>10378</a:t>
                      </a:r>
                    </a:p>
                  </a:txBody>
                  <a:tcPr horzOverflow="overflow"/>
                </a:tc>
                <a:tc>
                  <a:txBody>
                    <a:bodyPr/>
                    <a:lstStyle/>
                    <a:p>
                      <a:pPr algn="l" defTabSz="914400"/>
                      <a:r>
                        <a:rPr sz="1400" dirty="0">
                          <a:latin typeface="Arial"/>
                        </a:rPr>
                        <a:t>24857</a:t>
                      </a:r>
                    </a:p>
                  </a:txBody>
                  <a:tcPr horzOverflow="overflow"/>
                </a:tc>
                <a:tc>
                  <a:txBody>
                    <a:bodyPr/>
                    <a:lstStyle/>
                    <a:p>
                      <a:pPr algn="l" defTabSz="914400"/>
                      <a:r>
                        <a:rPr sz="1400" dirty="0">
                          <a:latin typeface="Arial"/>
                        </a:rPr>
                        <a:t>12104</a:t>
                      </a:r>
                    </a:p>
                  </a:txBody>
                  <a:tcPr horzOverflow="overflow"/>
                </a:tc>
                <a:tc>
                  <a:txBody>
                    <a:bodyPr/>
                    <a:lstStyle/>
                    <a:p>
                      <a:pPr algn="l" defTabSz="914400"/>
                      <a:r>
                        <a:rPr sz="1400" dirty="0">
                          <a:latin typeface="Arial"/>
                        </a:rPr>
                        <a:t>21350</a:t>
                      </a:r>
                    </a:p>
                  </a:txBody>
                  <a:tcPr horzOverflow="overflow"/>
                </a:tc>
                <a:tc>
                  <a:txBody>
                    <a:bodyPr/>
                    <a:lstStyle/>
                    <a:p>
                      <a:pPr algn="l" defTabSz="914400"/>
                      <a:r>
                        <a:rPr sz="1400" dirty="0">
                          <a:latin typeface="Arial"/>
                        </a:rPr>
                        <a:t>17124</a:t>
                      </a:r>
                    </a:p>
                  </a:txBody>
                  <a:tcPr horzOverflow="overflow"/>
                </a:tc>
                <a:tc>
                  <a:txBody>
                    <a:bodyPr/>
                    <a:lstStyle/>
                    <a:p>
                      <a:pPr algn="l" defTabSz="914400"/>
                      <a:r>
                        <a:rPr sz="1400" dirty="0">
                          <a:latin typeface="Arial"/>
                        </a:rPr>
                        <a:t>25460</a:t>
                      </a:r>
                    </a:p>
                  </a:txBody>
                  <a:tcPr horzOverflow="overflow"/>
                </a:tc>
                <a:extLst>
                  <a:ext uri="{0D108BD9-81ED-4DB2-BD59-A6C34878D82A}">
                    <a16:rowId xmlns:a16="http://schemas.microsoft.com/office/drawing/2014/main" val="10005"/>
                  </a:ext>
                </a:extLst>
              </a:tr>
              <a:tr h="469900">
                <a:tc>
                  <a:txBody>
                    <a:bodyPr/>
                    <a:lstStyle/>
                    <a:p>
                      <a:pPr algn="l" defTabSz="914400"/>
                      <a:r>
                        <a:rPr sz="1400" dirty="0">
                          <a:latin typeface="Arial"/>
                        </a:rPr>
                        <a:t>Jun</a:t>
                      </a:r>
                    </a:p>
                  </a:txBody>
                  <a:tcPr horzOverflow="overflow"/>
                </a:tc>
                <a:tc>
                  <a:txBody>
                    <a:bodyPr/>
                    <a:lstStyle/>
                    <a:p>
                      <a:pPr algn="l" defTabSz="914400"/>
                      <a:r>
                        <a:rPr sz="1400" dirty="0">
                          <a:latin typeface="Arial"/>
                        </a:rPr>
                        <a:t>9070</a:t>
                      </a:r>
                    </a:p>
                  </a:txBody>
                  <a:tcPr horzOverflow="overflow"/>
                </a:tc>
                <a:tc>
                  <a:txBody>
                    <a:bodyPr/>
                    <a:lstStyle/>
                    <a:p>
                      <a:pPr algn="l" defTabSz="914400"/>
                      <a:r>
                        <a:rPr sz="1400" dirty="0">
                          <a:latin typeface="Arial"/>
                        </a:rPr>
                        <a:t>8218</a:t>
                      </a:r>
                    </a:p>
                  </a:txBody>
                  <a:tcPr horzOverflow="overflow"/>
                </a:tc>
                <a:tc>
                  <a:txBody>
                    <a:bodyPr/>
                    <a:lstStyle/>
                    <a:p>
                      <a:pPr algn="l" defTabSz="914400"/>
                      <a:r>
                        <a:rPr sz="1400" dirty="0">
                          <a:latin typeface="Arial"/>
                        </a:rPr>
                        <a:t>23480</a:t>
                      </a:r>
                    </a:p>
                  </a:txBody>
                  <a:tcPr horzOverflow="overflow"/>
                </a:tc>
                <a:tc>
                  <a:txBody>
                    <a:bodyPr/>
                    <a:lstStyle/>
                    <a:p>
                      <a:pPr algn="l" defTabSz="914400"/>
                      <a:r>
                        <a:rPr sz="1400" dirty="0">
                          <a:latin typeface="Arial"/>
                        </a:rPr>
                        <a:t>20492</a:t>
                      </a:r>
                    </a:p>
                  </a:txBody>
                  <a:tcPr horzOverflow="overflow"/>
                </a:tc>
                <a:tc>
                  <a:txBody>
                    <a:bodyPr/>
                    <a:lstStyle/>
                    <a:p>
                      <a:pPr algn="l" defTabSz="914400"/>
                      <a:r>
                        <a:rPr sz="1400" dirty="0">
                          <a:latin typeface="Arial"/>
                        </a:rPr>
                        <a:t>9103</a:t>
                      </a:r>
                    </a:p>
                  </a:txBody>
                  <a:tcPr horzOverflow="overflow"/>
                </a:tc>
                <a:tc>
                  <a:txBody>
                    <a:bodyPr/>
                    <a:lstStyle/>
                    <a:p>
                      <a:pPr algn="l" defTabSz="914400"/>
                      <a:r>
                        <a:rPr sz="1400" dirty="0">
                          <a:latin typeface="Arial"/>
                        </a:rPr>
                        <a:t>12300</a:t>
                      </a:r>
                    </a:p>
                  </a:txBody>
                  <a:tcPr horzOverflow="overflow"/>
                </a:tc>
                <a:tc>
                  <a:txBody>
                    <a:bodyPr/>
                    <a:lstStyle/>
                    <a:p>
                      <a:pPr algn="l" defTabSz="914400"/>
                      <a:r>
                        <a:rPr sz="1400" dirty="0">
                          <a:latin typeface="Arial"/>
                        </a:rPr>
                        <a:t>13777</a:t>
                      </a:r>
                    </a:p>
                  </a:txBody>
                  <a:tcPr horzOverflow="overflow"/>
                </a:tc>
                <a:tc>
                  <a:txBody>
                    <a:bodyPr/>
                    <a:lstStyle/>
                    <a:p>
                      <a:pPr algn="l" defTabSz="914400"/>
                      <a:r>
                        <a:rPr sz="1400" dirty="0">
                          <a:latin typeface="Arial"/>
                        </a:rPr>
                        <a:t>21600</a:t>
                      </a:r>
                    </a:p>
                  </a:txBody>
                  <a:tcPr horzOverflow="overflow"/>
                </a:tc>
                <a:extLst>
                  <a:ext uri="{0D108BD9-81ED-4DB2-BD59-A6C34878D82A}">
                    <a16:rowId xmlns:a16="http://schemas.microsoft.com/office/drawing/2014/main" val="10006"/>
                  </a:ext>
                </a:extLst>
              </a:tr>
              <a:tr h="469900">
                <a:tc>
                  <a:txBody>
                    <a:bodyPr/>
                    <a:lstStyle/>
                    <a:p>
                      <a:pPr algn="l" defTabSz="914400"/>
                      <a:r>
                        <a:rPr sz="1400" dirty="0">
                          <a:latin typeface="Arial"/>
                        </a:rPr>
                        <a:t>Jul</a:t>
                      </a:r>
                    </a:p>
                  </a:txBody>
                  <a:tcPr horzOverflow="overflow"/>
                </a:tc>
                <a:tc>
                  <a:txBody>
                    <a:bodyPr/>
                    <a:lstStyle/>
                    <a:p>
                      <a:pPr algn="l" defTabSz="914400"/>
                      <a:r>
                        <a:rPr sz="1400" dirty="0">
                          <a:latin typeface="Arial"/>
                        </a:rPr>
                        <a:t>23500</a:t>
                      </a:r>
                    </a:p>
                  </a:txBody>
                  <a:tcPr horzOverflow="overflow"/>
                </a:tc>
                <a:tc>
                  <a:txBody>
                    <a:bodyPr/>
                    <a:lstStyle/>
                    <a:p>
                      <a:pPr algn="l" defTabSz="914400"/>
                      <a:r>
                        <a:rPr sz="1400" dirty="0">
                          <a:latin typeface="Arial"/>
                        </a:rPr>
                        <a:t>19230</a:t>
                      </a:r>
                    </a:p>
                  </a:txBody>
                  <a:tcPr horzOverflow="overflow"/>
                </a:tc>
                <a:tc>
                  <a:txBody>
                    <a:bodyPr/>
                    <a:lstStyle/>
                    <a:p>
                      <a:pPr algn="l" defTabSz="914400"/>
                      <a:r>
                        <a:rPr sz="1400" dirty="0">
                          <a:latin typeface="Arial"/>
                        </a:rPr>
                        <a:t>87390</a:t>
                      </a:r>
                    </a:p>
                  </a:txBody>
                  <a:tcPr horzOverflow="overflow"/>
                </a:tc>
                <a:tc>
                  <a:txBody>
                    <a:bodyPr/>
                    <a:lstStyle/>
                    <a:p>
                      <a:pPr algn="l" defTabSz="914400"/>
                      <a:r>
                        <a:rPr sz="1400" dirty="0">
                          <a:latin typeface="Arial"/>
                        </a:rPr>
                        <a:t>25030</a:t>
                      </a:r>
                    </a:p>
                  </a:txBody>
                  <a:tcPr horzOverflow="overflow"/>
                </a:tc>
                <a:tc>
                  <a:txBody>
                    <a:bodyPr/>
                    <a:lstStyle/>
                    <a:p>
                      <a:pPr algn="l" defTabSz="914400"/>
                      <a:r>
                        <a:rPr sz="1400" dirty="0">
                          <a:latin typeface="Arial"/>
                        </a:rPr>
                        <a:t>28000</a:t>
                      </a:r>
                    </a:p>
                  </a:txBody>
                  <a:tcPr horzOverflow="overflow"/>
                </a:tc>
                <a:tc>
                  <a:txBody>
                    <a:bodyPr/>
                    <a:lstStyle/>
                    <a:p>
                      <a:pPr algn="l" defTabSz="914400"/>
                      <a:r>
                        <a:rPr sz="1400" dirty="0">
                          <a:latin typeface="Arial"/>
                        </a:rPr>
                        <a:t>11890</a:t>
                      </a:r>
                    </a:p>
                  </a:txBody>
                  <a:tcPr horzOverflow="overflow"/>
                </a:tc>
                <a:tc>
                  <a:txBody>
                    <a:bodyPr/>
                    <a:lstStyle/>
                    <a:p>
                      <a:pPr algn="l" defTabSz="914400"/>
                      <a:r>
                        <a:rPr sz="1400" dirty="0">
                          <a:latin typeface="Arial"/>
                        </a:rPr>
                        <a:t>32507</a:t>
                      </a:r>
                    </a:p>
                  </a:txBody>
                  <a:tcPr horzOverflow="overflow"/>
                </a:tc>
                <a:tc>
                  <a:txBody>
                    <a:bodyPr/>
                    <a:lstStyle/>
                    <a:p>
                      <a:pPr algn="l" defTabSz="914400"/>
                      <a:r>
                        <a:rPr sz="1400" dirty="0">
                          <a:latin typeface="Arial"/>
                        </a:rPr>
                        <a:t>37800</a:t>
                      </a:r>
                    </a:p>
                  </a:txBody>
                  <a:tcPr horzOverflow="overflow"/>
                </a:tc>
                <a:extLst>
                  <a:ext uri="{0D108BD9-81ED-4DB2-BD59-A6C34878D82A}">
                    <a16:rowId xmlns:a16="http://schemas.microsoft.com/office/drawing/2014/main" val="10007"/>
                  </a:ext>
                </a:extLst>
              </a:tr>
              <a:tr h="469900">
                <a:tc>
                  <a:txBody>
                    <a:bodyPr/>
                    <a:lstStyle/>
                    <a:p>
                      <a:pPr algn="l" defTabSz="914400"/>
                      <a:r>
                        <a:rPr sz="1400" dirty="0">
                          <a:latin typeface="Arial"/>
                        </a:rPr>
                        <a:t>Aug</a:t>
                      </a:r>
                    </a:p>
                  </a:txBody>
                  <a:tcPr horzOverflow="overflow"/>
                </a:tc>
                <a:tc>
                  <a:txBody>
                    <a:bodyPr/>
                    <a:lstStyle/>
                    <a:p>
                      <a:pPr algn="l" defTabSz="914400"/>
                      <a:r>
                        <a:rPr sz="1400" dirty="0">
                          <a:latin typeface="Arial"/>
                        </a:rPr>
                        <a:t>39000</a:t>
                      </a:r>
                    </a:p>
                  </a:txBody>
                  <a:tcPr horzOverflow="overflow"/>
                </a:tc>
                <a:tc>
                  <a:txBody>
                    <a:bodyPr/>
                    <a:lstStyle/>
                    <a:p>
                      <a:pPr algn="l" defTabSz="914400"/>
                      <a:r>
                        <a:rPr sz="1400" dirty="0">
                          <a:latin typeface="Arial"/>
                        </a:rPr>
                        <a:t>30301</a:t>
                      </a:r>
                    </a:p>
                  </a:txBody>
                  <a:tcPr horzOverflow="overflow"/>
                </a:tc>
                <a:tc>
                  <a:txBody>
                    <a:bodyPr/>
                    <a:lstStyle/>
                    <a:p>
                      <a:pPr algn="l" defTabSz="914400"/>
                      <a:r>
                        <a:rPr sz="1400" dirty="0">
                          <a:latin typeface="Arial"/>
                        </a:rPr>
                        <a:t>78356</a:t>
                      </a:r>
                    </a:p>
                  </a:txBody>
                  <a:tcPr horzOverflow="overflow"/>
                </a:tc>
                <a:tc>
                  <a:txBody>
                    <a:bodyPr/>
                    <a:lstStyle/>
                    <a:p>
                      <a:pPr algn="l" defTabSz="914400"/>
                      <a:r>
                        <a:rPr sz="1400" dirty="0">
                          <a:latin typeface="Arial"/>
                        </a:rPr>
                        <a:t>21121</a:t>
                      </a:r>
                    </a:p>
                  </a:txBody>
                  <a:tcPr horzOverflow="overflow"/>
                </a:tc>
                <a:tc>
                  <a:txBody>
                    <a:bodyPr/>
                    <a:lstStyle/>
                    <a:p>
                      <a:pPr algn="l" defTabSz="914400"/>
                      <a:r>
                        <a:rPr sz="1400" dirty="0">
                          <a:latin typeface="Arial"/>
                        </a:rPr>
                        <a:t>30443</a:t>
                      </a:r>
                    </a:p>
                  </a:txBody>
                  <a:tcPr horzOverflow="overflow"/>
                </a:tc>
                <a:tc>
                  <a:txBody>
                    <a:bodyPr/>
                    <a:lstStyle/>
                    <a:p>
                      <a:pPr algn="l" defTabSz="914400"/>
                      <a:r>
                        <a:rPr sz="1400" dirty="0">
                          <a:latin typeface="Arial"/>
                        </a:rPr>
                        <a:t>23230</a:t>
                      </a:r>
                    </a:p>
                  </a:txBody>
                  <a:tcPr horzOverflow="overflow"/>
                </a:tc>
                <a:tc>
                  <a:txBody>
                    <a:bodyPr/>
                    <a:lstStyle/>
                    <a:p>
                      <a:pPr algn="l" defTabSz="914400"/>
                      <a:r>
                        <a:rPr sz="1400" dirty="0">
                          <a:latin typeface="Arial"/>
                        </a:rPr>
                        <a:t>37075</a:t>
                      </a:r>
                    </a:p>
                  </a:txBody>
                  <a:tcPr horzOverflow="overflow"/>
                </a:tc>
                <a:tc>
                  <a:txBody>
                    <a:bodyPr/>
                    <a:lstStyle/>
                    <a:p>
                      <a:pPr algn="l" defTabSz="914400"/>
                      <a:r>
                        <a:rPr sz="1400" dirty="0">
                          <a:latin typeface="Arial"/>
                        </a:rPr>
                        <a:t>40900</a:t>
                      </a:r>
                    </a:p>
                  </a:txBody>
                  <a:tcPr horzOverflow="overflow"/>
                </a:tc>
                <a:extLst>
                  <a:ext uri="{0D108BD9-81ED-4DB2-BD59-A6C34878D82A}">
                    <a16:rowId xmlns:a16="http://schemas.microsoft.com/office/drawing/2014/main" val="10008"/>
                  </a:ext>
                </a:extLst>
              </a:tr>
              <a:tr h="469900">
                <a:tc>
                  <a:txBody>
                    <a:bodyPr/>
                    <a:lstStyle/>
                    <a:p>
                      <a:pPr algn="l" defTabSz="914400"/>
                      <a:r>
                        <a:rPr sz="1400" dirty="0">
                          <a:latin typeface="Arial"/>
                        </a:rPr>
                        <a:t>Sep</a:t>
                      </a:r>
                    </a:p>
                  </a:txBody>
                  <a:tcPr horzOverflow="overflow"/>
                </a:tc>
                <a:tc>
                  <a:txBody>
                    <a:bodyPr/>
                    <a:lstStyle/>
                    <a:p>
                      <a:pPr algn="l" defTabSz="914400"/>
                      <a:r>
                        <a:rPr sz="1400" dirty="0">
                          <a:latin typeface="Arial"/>
                        </a:rPr>
                        <a:t>14340</a:t>
                      </a:r>
                    </a:p>
                  </a:txBody>
                  <a:tcPr horzOverflow="overflow"/>
                </a:tc>
                <a:tc>
                  <a:txBody>
                    <a:bodyPr/>
                    <a:lstStyle/>
                    <a:p>
                      <a:pPr algn="l" defTabSz="914400"/>
                      <a:r>
                        <a:rPr sz="1400" dirty="0">
                          <a:latin typeface="Arial"/>
                        </a:rPr>
                        <a:t>19403</a:t>
                      </a:r>
                    </a:p>
                  </a:txBody>
                  <a:tcPr horzOverflow="overflow"/>
                </a:tc>
                <a:tc>
                  <a:txBody>
                    <a:bodyPr/>
                    <a:lstStyle/>
                    <a:p>
                      <a:pPr algn="l" defTabSz="914400"/>
                      <a:r>
                        <a:rPr sz="1400" dirty="0">
                          <a:latin typeface="Arial"/>
                        </a:rPr>
                        <a:t>89024</a:t>
                      </a:r>
                    </a:p>
                  </a:txBody>
                  <a:tcPr horzOverflow="overflow"/>
                </a:tc>
                <a:tc>
                  <a:txBody>
                    <a:bodyPr/>
                    <a:lstStyle/>
                    <a:p>
                      <a:pPr algn="l" defTabSz="914400"/>
                      <a:r>
                        <a:rPr sz="1400" dirty="0">
                          <a:latin typeface="Arial"/>
                        </a:rPr>
                        <a:t>1230</a:t>
                      </a:r>
                    </a:p>
                  </a:txBody>
                  <a:tcPr horzOverflow="overflow"/>
                </a:tc>
                <a:tc>
                  <a:txBody>
                    <a:bodyPr/>
                    <a:lstStyle/>
                    <a:p>
                      <a:pPr algn="l" defTabSz="914400"/>
                      <a:r>
                        <a:rPr sz="1400" dirty="0">
                          <a:latin typeface="Arial"/>
                        </a:rPr>
                        <a:t>12561</a:t>
                      </a:r>
                    </a:p>
                  </a:txBody>
                  <a:tcPr horzOverflow="overflow"/>
                </a:tc>
                <a:tc>
                  <a:txBody>
                    <a:bodyPr/>
                    <a:lstStyle/>
                    <a:p>
                      <a:pPr algn="l" defTabSz="914400"/>
                      <a:r>
                        <a:rPr sz="1400" dirty="0">
                          <a:latin typeface="Arial"/>
                        </a:rPr>
                        <a:t>29000</a:t>
                      </a:r>
                    </a:p>
                  </a:txBody>
                  <a:tcPr horzOverflow="overflow"/>
                </a:tc>
                <a:tc>
                  <a:txBody>
                    <a:bodyPr/>
                    <a:lstStyle/>
                    <a:p>
                      <a:pPr algn="l" defTabSz="914400"/>
                      <a:r>
                        <a:rPr sz="1400" dirty="0">
                          <a:latin typeface="Arial"/>
                        </a:rPr>
                        <a:t>27593</a:t>
                      </a:r>
                    </a:p>
                  </a:txBody>
                  <a:tcPr horzOverflow="overflow"/>
                </a:tc>
                <a:tc>
                  <a:txBody>
                    <a:bodyPr/>
                    <a:lstStyle/>
                    <a:p>
                      <a:pPr algn="l" defTabSz="914400"/>
                      <a:r>
                        <a:rPr sz="1400" dirty="0">
                          <a:latin typeface="Arial"/>
                        </a:rPr>
                        <a:t>29800</a:t>
                      </a:r>
                    </a:p>
                  </a:txBody>
                  <a:tcPr horzOverflow="overflow"/>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3cecddb-4c93-4872-a6fd-42c36c2b9cc1">
      <Terms xmlns="http://schemas.microsoft.com/office/infopath/2007/PartnerControls"/>
    </lcf76f155ced4ddcb4097134ff3c332f>
    <TaxCatchAll xmlns="ea382bfb-503e-4507-8bf8-b87f920e3b7e" xsi:nil="true"/>
    <AgendaCovered xmlns="e3cecddb-4c93-4872-a6fd-42c36c2b9cc1" xsi:nil="true"/>
    <Status xmlns="e3cecddb-4c93-4872-a6fd-42c36c2b9cc1">Drafting</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E2E5780C1D70C43A158087F5887394A" ma:contentTypeVersion="14" ma:contentTypeDescription="Create a new document." ma:contentTypeScope="" ma:versionID="8dc87d9f4d24c24e7e5d626d0306168d">
  <xsd:schema xmlns:xsd="http://www.w3.org/2001/XMLSchema" xmlns:xs="http://www.w3.org/2001/XMLSchema" xmlns:p="http://schemas.microsoft.com/office/2006/metadata/properties" xmlns:ns2="e3cecddb-4c93-4872-a6fd-42c36c2b9cc1" xmlns:ns3="ea382bfb-503e-4507-8bf8-b87f920e3b7e" targetNamespace="http://schemas.microsoft.com/office/2006/metadata/properties" ma:root="true" ma:fieldsID="a90e5d8b2753f45926fe229c0f895a44" ns2:_="" ns3:_="">
    <xsd:import namespace="e3cecddb-4c93-4872-a6fd-42c36c2b9cc1"/>
    <xsd:import namespace="ea382bfb-503e-4507-8bf8-b87f920e3b7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Statu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AgendaCover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cecddb-4c93-4872-a6fd-42c36c2b9c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Status" ma:index="12" nillable="true" ma:displayName="Status" ma:default="Drafting" ma:format="Dropdown" ma:internalName="Status">
      <xsd:simpleType>
        <xsd:restriction base="dms:Choice">
          <xsd:enumeration value="Not Started"/>
          <xsd:enumeration value="Drafting"/>
          <xsd:enumeration value="Under PO review"/>
          <xsd:enumeration value="Under PLO review"/>
          <xsd:enumeration value="Under GH team review"/>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327adbbb-6bc9-4338-944a-893b363ad6e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AgendaCovered" ma:index="21" nillable="true" ma:displayName="Agenda Covered" ma:description="Agenda covered in video" ma:format="Dropdown" ma:internalName="AgendaCovered">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a382bfb-503e-4507-8bf8-b87f920e3b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f214104a-6e7d-4d18-84d8-0117cc748af3}" ma:internalName="TaxCatchAll" ma:showField="CatchAllData" ma:web="ea382bfb-503e-4507-8bf8-b87f920e3b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9C624E-17DC-471B-B08D-5F66F6E3CA54}">
  <ds:schemaRefs>
    <ds:schemaRef ds:uri="http://schemas.microsoft.com/office/2006/metadata/properties"/>
    <ds:schemaRef ds:uri="http://schemas.microsoft.com/office/infopath/2007/PartnerControls"/>
    <ds:schemaRef ds:uri="e3cecddb-4c93-4872-a6fd-42c36c2b9cc1"/>
    <ds:schemaRef ds:uri="ea382bfb-503e-4507-8bf8-b87f920e3b7e"/>
  </ds:schemaRefs>
</ds:datastoreItem>
</file>

<file path=customXml/itemProps2.xml><?xml version="1.0" encoding="utf-8"?>
<ds:datastoreItem xmlns:ds="http://schemas.openxmlformats.org/officeDocument/2006/customXml" ds:itemID="{1BF8F764-D3A1-4D2C-A512-B2BE21ACC447}">
  <ds:schemaRefs>
    <ds:schemaRef ds:uri="http://schemas.microsoft.com/sharepoint/v3/contenttype/forms"/>
  </ds:schemaRefs>
</ds:datastoreItem>
</file>

<file path=customXml/itemProps3.xml><?xml version="1.0" encoding="utf-8"?>
<ds:datastoreItem xmlns:ds="http://schemas.openxmlformats.org/officeDocument/2006/customXml" ds:itemID="{EF3812D7-310E-4D37-9282-977E4EFD3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cecddb-4c93-4872-a6fd-42c36c2b9cc1"/>
    <ds:schemaRef ds:uri="ea382bfb-503e-4507-8bf8-b87f920e3b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1196</TotalTime>
  <Words>332</Words>
  <Application>Microsoft Office PowerPoint</Application>
  <PresentationFormat>Widescreen</PresentationFormat>
  <Paragraphs>110</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(Body)</vt:lpstr>
      <vt:lpstr>Calibri Light</vt:lpstr>
      <vt:lpstr>Helvetica CE 35 Thin</vt:lpstr>
      <vt:lpstr>Office Theme</vt:lpstr>
      <vt:lpstr>Company History</vt:lpstr>
      <vt:lpstr>Product Overview</vt:lpstr>
      <vt:lpstr>PowerPoint Presentation</vt:lpstr>
      <vt:lpstr>PowerPoint Presentation</vt:lpstr>
      <vt:lpstr>Target Vs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Vijayasurya Anandhan</dc:creator>
  <cp:lastModifiedBy>Dharanitharan Ayyasamy</cp:lastModifiedBy>
  <cp:revision>29</cp:revision>
  <dcterms:created xsi:type="dcterms:W3CDTF">2019-02-27T08:36:52Z</dcterms:created>
  <dcterms:modified xsi:type="dcterms:W3CDTF">2026-08-25T12:49:33Z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0x0101008E2E5780C1D70C43A158087F5887394A</vt:lpwstr>
  </property>
</Properties>
</file>