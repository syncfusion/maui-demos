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1"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7" d="100"/>
          <a:sy n="87" d="100"/>
        </p:scale>
        <p:origin x="422"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88092-E867-4E68-9886-B0205E2A27D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8A09C4B-0CC4-4993-9D0F-D27A49D730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8D9D6B2-3203-48A7-85C0-06852B52786A}"/>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5" name="Footer Placeholder 4">
            <a:extLst>
              <a:ext uri="{FF2B5EF4-FFF2-40B4-BE49-F238E27FC236}">
                <a16:creationId xmlns:a16="http://schemas.microsoft.com/office/drawing/2014/main" id="{A8B66A1C-EA7F-4E6F-ABAD-D25AF2A5DC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CB37CF-1A86-42A3-A07C-D2DA7880CA4C}"/>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987980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A55BD-9E4B-40B7-8EB9-7F10B7270B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51656E-1980-4619-BBC2-1C0AECF5FFEE}"/>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37196B-85A7-4EE9-A037-146860D00D65}"/>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5" name="Footer Placeholder 4">
            <a:extLst>
              <a:ext uri="{FF2B5EF4-FFF2-40B4-BE49-F238E27FC236}">
                <a16:creationId xmlns:a16="http://schemas.microsoft.com/office/drawing/2014/main" id="{9E1B61C3-1137-4444-8857-E46855FEA9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8A481B-7D56-458D-9F0B-73F00649E611}"/>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13021344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B5B27-DE83-4844-A575-54EE450B1AC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D5B7AB5-6E0B-4DBB-86F4-37CEA31A46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06E480A-0C03-4D18-BE4C-6E525B2F6428}"/>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5" name="Footer Placeholder 4">
            <a:extLst>
              <a:ext uri="{FF2B5EF4-FFF2-40B4-BE49-F238E27FC236}">
                <a16:creationId xmlns:a16="http://schemas.microsoft.com/office/drawing/2014/main" id="{992B60B8-19CB-47CB-B72B-0416852AA9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B9FE0F-A484-4EA7-8FD2-04C4B8776940}"/>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979072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4C114-EFA0-42E6-B430-30AD2967F26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B1390-1CCB-4CF0-913E-185544AF421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C93107-53DE-4DCB-BE89-54BC1D44CC2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C31A65B-5BD3-4B14-A039-5A309529A78B}"/>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6" name="Footer Placeholder 5">
            <a:extLst>
              <a:ext uri="{FF2B5EF4-FFF2-40B4-BE49-F238E27FC236}">
                <a16:creationId xmlns:a16="http://schemas.microsoft.com/office/drawing/2014/main" id="{268F39D9-988D-459E-B1CD-C501E6C887B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968384-38C5-424B-B863-1234309677FA}"/>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39568365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FDCAC-57AB-4D6E-BC77-E5FBF27FE7F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6BFAF32-0E0F-4B9B-ABF8-08957C05BA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B6BFCF4-C2D9-425F-B022-40ACE4EA8C94}"/>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980780-05D2-4D96-A9D5-53484814E5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28D4A927-7B61-40C1-92AB-688051757663}"/>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7AB97D1-5A3B-4059-815A-340FB824448A}"/>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8" name="Footer Placeholder 7">
            <a:extLst>
              <a:ext uri="{FF2B5EF4-FFF2-40B4-BE49-F238E27FC236}">
                <a16:creationId xmlns:a16="http://schemas.microsoft.com/office/drawing/2014/main" id="{B72DE78E-294B-446D-8474-6BA224D5B3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BC3293A-4FD6-4428-85E0-574DF5719A86}"/>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1978228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521404-108D-4FCC-8492-ACE9DCF177A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FFD965-28FF-4929-B0DA-92C66945B932}"/>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4" name="Footer Placeholder 3">
            <a:extLst>
              <a:ext uri="{FF2B5EF4-FFF2-40B4-BE49-F238E27FC236}">
                <a16:creationId xmlns:a16="http://schemas.microsoft.com/office/drawing/2014/main" id="{16DAA5E0-83C1-4CF4-880B-2CF539CB7F1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BAF3922-374B-4171-8BC5-F1E0F8421F58}"/>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3607219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BAB476E-AC05-47E6-A12F-24C0D753CF12}"/>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3" name="Footer Placeholder 2">
            <a:extLst>
              <a:ext uri="{FF2B5EF4-FFF2-40B4-BE49-F238E27FC236}">
                <a16:creationId xmlns:a16="http://schemas.microsoft.com/office/drawing/2014/main" id="{63C97C91-D4AD-4F7E-B19C-A36AC68BCE8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8A34-EE4E-4307-B20A-F719CBC3FB1F}"/>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6825927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3019-6048-4EF1-8E67-3302EF95BF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DEAC829-6F62-4C5B-A4FE-88D795CAC2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7B1730-5CED-46AB-8AF2-3560B72661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817798A2-8D49-4C9C-8CB7-5367A10AB5B7}"/>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6" name="Footer Placeholder 5">
            <a:extLst>
              <a:ext uri="{FF2B5EF4-FFF2-40B4-BE49-F238E27FC236}">
                <a16:creationId xmlns:a16="http://schemas.microsoft.com/office/drawing/2014/main" id="{7C709CD0-EF6C-41C7-B9BA-9FC337BD76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4E108C-CC43-4553-B063-33D1C360EC5A}"/>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8220606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2A4BF-7EBD-4087-A800-77CFD938AE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A2AE39C-E7E5-4536-968C-65137F387D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96C026E-0017-4FFD-BB30-78C5416B23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6C98FE5-8A1C-4192-984C-C18B093CADF6}"/>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6" name="Footer Placeholder 5">
            <a:extLst>
              <a:ext uri="{FF2B5EF4-FFF2-40B4-BE49-F238E27FC236}">
                <a16:creationId xmlns:a16="http://schemas.microsoft.com/office/drawing/2014/main" id="{6E25DD6C-2A37-4709-B29A-446A571819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56A181-3C79-475A-8A12-7267413561EB}"/>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209579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14EA1-58E4-42A7-8DCA-725AFB10B7F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60006E-D4B9-44A0-A059-EBC6CC39ACB9}"/>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3CE83F-AD46-425B-A854-996B54ABE788}"/>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5" name="Footer Placeholder 4">
            <a:extLst>
              <a:ext uri="{FF2B5EF4-FFF2-40B4-BE49-F238E27FC236}">
                <a16:creationId xmlns:a16="http://schemas.microsoft.com/office/drawing/2014/main" id="{A257BED7-15D0-4FA7-999F-F2D1804AD7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A33827-58FD-4965-A7A7-AB35B2772676}"/>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16258375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97E049-7767-4915-BFAD-AA6268FC13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E53A7E7-6996-49F7-8B45-7C9EA3F14BC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DE4FD6-252D-4974-83FB-A1C670961515}"/>
              </a:ext>
            </a:extLst>
          </p:cNvPr>
          <p:cNvSpPr>
            <a:spLocks noGrp="1"/>
          </p:cNvSpPr>
          <p:nvPr>
            <p:ph type="dt" sz="half" idx="10"/>
          </p:nvPr>
        </p:nvSpPr>
        <p:spPr/>
        <p:txBody>
          <a:bodyPr/>
          <a:lstStyle/>
          <a:p>
            <a:fld id="{5455A7CF-DB6C-4325-93B5-8C3F06D80356}" type="datetimeFigureOut">
              <a:rPr lang="en-US" smtClean="0"/>
              <a:t>5/26/2026</a:t>
            </a:fld>
            <a:endParaRPr lang="en-US"/>
          </a:p>
        </p:txBody>
      </p:sp>
      <p:sp>
        <p:nvSpPr>
          <p:cNvPr id="5" name="Footer Placeholder 4">
            <a:extLst>
              <a:ext uri="{FF2B5EF4-FFF2-40B4-BE49-F238E27FC236}">
                <a16:creationId xmlns:a16="http://schemas.microsoft.com/office/drawing/2014/main" id="{75E65431-35DC-476B-ABEA-82F227DD08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35E16B-5E75-4104-B122-F4472006EB30}"/>
              </a:ext>
            </a:extLst>
          </p:cNvPr>
          <p:cNvSpPr>
            <a:spLocks noGrp="1"/>
          </p:cNvSpPr>
          <p:nvPr>
            <p:ph type="sldNum" sz="quarter" idx="12"/>
          </p:nvPr>
        </p:nvSpPr>
        <p:spPr/>
        <p:txBody>
          <a:bodyPr/>
          <a:lstStyle/>
          <a:p>
            <a:fld id="{24E76E65-7777-4C32-B153-6028045D6BD3}" type="slidenum">
              <a:rPr lang="en-US" smtClean="0"/>
              <a:t>‹#›</a:t>
            </a:fld>
            <a:endParaRPr lang="en-US"/>
          </a:p>
        </p:txBody>
      </p:sp>
    </p:spTree>
    <p:extLst>
      <p:ext uri="{BB962C8B-B14F-4D97-AF65-F5344CB8AC3E}">
        <p14:creationId xmlns:p14="http://schemas.microsoft.com/office/powerpoint/2010/main" val="2982463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55371D-5B24-4F8F-B844-6B7F15843C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108F94-535E-4939-99EE-305982298D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A8EA68-1C72-4720-B1FE-ED04C5E771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55A7CF-DB6C-4325-93B5-8C3F06D80356}" type="datetimeFigureOut">
              <a:rPr lang="en-US" smtClean="0"/>
              <a:t>5/26/2026</a:t>
            </a:fld>
            <a:endParaRPr lang="en-US"/>
          </a:p>
        </p:txBody>
      </p:sp>
      <p:sp>
        <p:nvSpPr>
          <p:cNvPr id="5" name="Footer Placeholder 4">
            <a:extLst>
              <a:ext uri="{FF2B5EF4-FFF2-40B4-BE49-F238E27FC236}">
                <a16:creationId xmlns:a16="http://schemas.microsoft.com/office/drawing/2014/main" id="{E13B2E32-A768-4ED6-970A-84BCB388DE0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42913F1-F29E-45B5-BF89-6221E2F9F9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E76E65-7777-4C32-B153-6028045D6BD3}" type="slidenum">
              <a:rPr lang="en-US" smtClean="0"/>
              <a:t>‹#›</a:t>
            </a:fld>
            <a:endParaRPr lang="en-US"/>
          </a:p>
        </p:txBody>
      </p:sp>
    </p:spTree>
    <p:extLst>
      <p:ext uri="{BB962C8B-B14F-4D97-AF65-F5344CB8AC3E}">
        <p14:creationId xmlns:p14="http://schemas.microsoft.com/office/powerpoint/2010/main" val="20944100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hyperlink" Target="http://www.google.com/" TargetMode="Externa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white">
          <a:ln>
            <a:headEnd type="none"/>
            <a:tailEnd type="none"/>
          </a:ln>
        </p:spPr>
        <p:txBody>
          <a:bodyPr wrap="square"/>
          <a:lstStyle/>
          <a:p>
            <a:pPr algn="ctr" defTabSz="914400"/>
            <a:r>
              <a:rPr b="1" dirty="0"/>
              <a:t>Company History</a:t>
            </a:r>
          </a:p>
        </p:txBody>
      </p:sp>
      <p:sp>
        <p:nvSpPr>
          <p:cNvPr id="3" name="TextBox3"/>
          <p:cNvSpPr txBox="1">
            <a:spLocks noChangeArrowheads="1"/>
          </p:cNvSpPr>
          <p:nvPr/>
        </p:nvSpPr>
        <p:spPr bwMode="white">
          <a:xfrm>
            <a:off x="675894" y="1799971"/>
            <a:ext cx="11102213" cy="923330"/>
          </a:xfrm>
          <a:prstGeom prst="rect">
            <a:avLst/>
          </a:prstGeom>
          <a:ln>
            <a:headEnd type="none"/>
            <a:tailEnd type="none"/>
          </a:ln>
        </p:spPr>
        <p:txBody>
          <a:bodyPr wrap="square">
            <a:spAutoFit/>
          </a:bodyPr>
          <a:lstStyle/>
          <a:p>
            <a:pPr defTabSz="914400"/>
            <a:r>
              <a:rPr dirty="0"/>
              <a:t>IMN Solutions PVT LTD is the software company, established in 1987, by George Milton. The company has been listed as the trusted partner for many high-profile organizations </a:t>
            </a:r>
            <a:r>
              <a:rPr b="1" i="1" dirty="0"/>
              <a:t>since 1988 </a:t>
            </a:r>
            <a:r>
              <a:rPr dirty="0"/>
              <a:t>and got awards for quality products from reputed organizations.</a:t>
            </a:r>
          </a:p>
        </p:txBody>
      </p:sp>
      <p:sp>
        <p:nvSpPr>
          <p:cNvPr id="4" name="TextBox4"/>
          <p:cNvSpPr txBox="1">
            <a:spLocks noChangeArrowheads="1"/>
          </p:cNvSpPr>
          <p:nvPr/>
        </p:nvSpPr>
        <p:spPr bwMode="white">
          <a:xfrm>
            <a:off x="675894" y="3429000"/>
            <a:ext cx="11102212" cy="923330"/>
          </a:xfrm>
          <a:prstGeom prst="rect">
            <a:avLst/>
          </a:prstGeom>
          <a:ln>
            <a:headEnd type="none"/>
            <a:tailEnd type="none"/>
          </a:ln>
        </p:spPr>
        <p:txBody>
          <a:bodyPr wrap="square">
            <a:spAutoFit/>
          </a:bodyPr>
          <a:lstStyle/>
          <a:p>
            <a:pPr marL="444500" indent="-444500" defTabSz="914400">
              <a:buFont typeface="Arial" panose="020B0604020202020204" pitchFamily="34" charset="0"/>
              <a:buChar char="•"/>
            </a:pPr>
            <a:r>
              <a:rPr dirty="0"/>
              <a:t>The company acquired the MCY corporation for </a:t>
            </a:r>
            <a:r>
              <a:rPr b="1" dirty="0"/>
              <a:t>20 billion dollars </a:t>
            </a:r>
            <a:r>
              <a:rPr dirty="0"/>
              <a:t>and became the top revenue maker for the year 2015.</a:t>
            </a:r>
          </a:p>
          <a:p>
            <a:pPr marL="444500" indent="-444500" defTabSz="914400">
              <a:buFont typeface="Arial" panose="020B0604020202020204" pitchFamily="34" charset="0"/>
              <a:buChar char="•"/>
            </a:pPr>
            <a:r>
              <a:rPr dirty="0"/>
              <a:t>The company is participating in top open source projects in automation industry.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white">
          <a:xfrm>
            <a:off x="704088" y="292608"/>
            <a:ext cx="7278624" cy="905256"/>
          </a:xfrm>
          <a:ln>
            <a:headEnd type="none"/>
            <a:tailEnd type="none"/>
          </a:ln>
        </p:spPr>
        <p:txBody>
          <a:bodyPr wrap="square"/>
          <a:lstStyle/>
          <a:p>
            <a:pPr algn="l" defTabSz="914400"/>
            <a:r>
              <a:rPr lang="en-US" sz="4000" dirty="0">
                <a:latin typeface="Helvetica CE 35 Thin"/>
                <a:ea typeface="Helvetica CE 35 Thin"/>
                <a:cs typeface="Helvetica CE 35 Thin"/>
              </a:rPr>
              <a:t>Product Overview</a:t>
            </a:r>
            <a:endParaRPr sz="4000" dirty="0">
              <a:latin typeface="Helvetica CE 35 Thin"/>
              <a:ea typeface="Helvetica CE 35 Thin"/>
              <a:cs typeface="Helvetica CE 35 Thin"/>
            </a:endParaRPr>
          </a:p>
        </p:txBody>
      </p:sp>
      <p:sp>
        <p:nvSpPr>
          <p:cNvPr id="3" name="Text Placeholder 2"/>
          <p:cNvSpPr>
            <a:spLocks noGrp="1"/>
          </p:cNvSpPr>
          <p:nvPr>
            <p:ph type="body" idx="1"/>
          </p:nvPr>
        </p:nvSpPr>
        <p:spPr bwMode="white">
          <a:xfrm>
            <a:off x="1106424" y="1517904"/>
            <a:ext cx="9217152" cy="4507992"/>
          </a:xfrm>
          <a:ln>
            <a:headEnd type="none"/>
            <a:tailEnd type="none"/>
          </a:ln>
        </p:spPr>
        <p:txBody>
          <a:bodyPr wrap="square">
            <a:normAutofit/>
          </a:bodyPr>
          <a:lstStyle/>
          <a:p>
            <a:pPr marL="285750" indent="-285750" algn="l" defTabSz="914400">
              <a:buFont typeface="Arial" panose="020B0604020202020204" pitchFamily="34" charset="0"/>
              <a:buChar char="•"/>
            </a:pPr>
            <a:r>
              <a:rPr lang="en-US" sz="1800" dirty="0">
                <a:solidFill>
                  <a:srgbClr val="000000"/>
                </a:solidFill>
                <a:latin typeface="Calibri (Body)"/>
                <a:ea typeface="Calibri (Body)"/>
                <a:cs typeface="Calibri (Body)"/>
                <a:hlinkClick r:id="rId2"/>
              </a:rPr>
              <a:t>Adventure Works Cycles</a:t>
            </a:r>
            <a:r>
              <a:rPr lang="en-US" sz="1800" dirty="0">
                <a:solidFill>
                  <a:srgbClr val="000000"/>
                </a:solidFill>
                <a:latin typeface="Calibri (Body)"/>
                <a:ea typeface="Calibri (Body)"/>
                <a:cs typeface="Calibri (Body)"/>
              </a:rPr>
              <a:t>, the fictitious company on which the Adventure Works sample databases are based, is a large, multinational manufacturing company. </a:t>
            </a:r>
          </a:p>
          <a:p>
            <a:pPr marL="285750" indent="-285750" algn="l" defTabSz="914400">
              <a:buFont typeface="Arial" panose="020B0604020202020204" pitchFamily="34" charset="0"/>
              <a:buChar char="•"/>
            </a:pPr>
            <a:r>
              <a:rPr lang="en-US" sz="1800" dirty="0">
                <a:solidFill>
                  <a:srgbClr val="000000"/>
                </a:solidFill>
                <a:latin typeface="Calibri (Body)"/>
                <a:ea typeface="Calibri (Body)"/>
                <a:cs typeface="Calibri (Body)"/>
              </a:rPr>
              <a:t>The company manufactures and sells metal and composite bicycles to North American, European and Asian commercial markets. While its base operation is located in Bothell, Washington with 290 employees, several regional sales teams are located throughout their market base.</a:t>
            </a:r>
          </a:p>
          <a:p>
            <a:pPr marL="285750" indent="-285750" algn="l" defTabSz="914400">
              <a:buFont typeface="Arial" panose="020B0604020202020204" pitchFamily="34" charset="0"/>
              <a:buChar char="•"/>
            </a:pPr>
            <a:r>
              <a:rPr lang="en-US" sz="1800" dirty="0">
                <a:solidFill>
                  <a:srgbClr val="000000"/>
                </a:solidFill>
                <a:latin typeface="Calibri (Body)"/>
                <a:ea typeface="Calibri (Body)"/>
                <a:cs typeface="Calibri (Body)"/>
              </a:rPr>
              <a:t>In 2000, Adventure Works Cycles bought a small manufacturing plant, </a:t>
            </a:r>
            <a:r>
              <a:rPr lang="en-US" sz="1800" dirty="0" err="1">
                <a:solidFill>
                  <a:srgbClr val="000000"/>
                </a:solidFill>
                <a:latin typeface="Calibri (Body)"/>
                <a:ea typeface="Calibri (Body)"/>
                <a:cs typeface="Calibri (Body)"/>
              </a:rPr>
              <a:t>Importadores</a:t>
            </a:r>
            <a:r>
              <a:rPr lang="en-US" sz="1800" dirty="0">
                <a:solidFill>
                  <a:srgbClr val="000000"/>
                </a:solidFill>
                <a:latin typeface="Calibri (Body)"/>
                <a:ea typeface="Calibri (Body)"/>
                <a:cs typeface="Calibri (Body)"/>
              </a:rPr>
              <a:t> Neptuno, located in Mexico. Importadores Neptuno manufactures several critical subcomponents for the Adventure Works Cycles production line. </a:t>
            </a:r>
          </a:p>
          <a:p>
            <a:pPr marL="285750" indent="-285750" algn="l" defTabSz="914400">
              <a:buFont typeface="Arial" panose="020B0604020202020204" pitchFamily="34" charset="0"/>
              <a:buChar char="•"/>
            </a:pPr>
            <a:r>
              <a:rPr lang="en-US" sz="1800" dirty="0">
                <a:solidFill>
                  <a:srgbClr val="000000"/>
                </a:solidFill>
                <a:latin typeface="Calibri (Body)"/>
                <a:ea typeface="Calibri (Body)"/>
                <a:cs typeface="Calibri (Body)"/>
              </a:rPr>
              <a:t>These subcomponents are shipped to the Bothell location for final product assembly. In 2001, Importadores Neptuno, became the sole manufacturer and distributor of the touring bicycle productivity group.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white">
          <a:xfrm>
            <a:off x="1069848" y="0"/>
            <a:ext cx="10058400" cy="1609344"/>
          </a:xfrm>
          <a:ln>
            <a:headEnd type="none"/>
            <a:tailEnd type="none"/>
          </a:ln>
        </p:spPr>
        <p:txBody>
          <a:bodyPr wrap="square"/>
          <a:lstStyle/>
          <a:p>
            <a:pPr algn="ctr" defTabSz="914400"/>
            <a:r>
              <a:rPr sz="2800" b="1" cap="all" dirty="0">
                <a:latin typeface="Arial"/>
              </a:rPr>
              <a:t>Target </a:t>
            </a:r>
            <a:r>
              <a:rPr sz="1800" dirty="0">
                <a:latin typeface="Arial"/>
              </a:rPr>
              <a:t>Vs </a:t>
            </a:r>
            <a:r>
              <a:rPr sz="2800" b="1" dirty="0">
                <a:latin typeface="Arial"/>
              </a:rPr>
              <a:t>PERFORMANCE</a:t>
            </a:r>
          </a:p>
        </p:txBody>
      </p:sp>
      <p:graphicFrame>
        <p:nvGraphicFramePr>
          <p:cNvPr id="3" name="Table 3"/>
          <p:cNvGraphicFramePr/>
          <p:nvPr/>
        </p:nvGraphicFramePr>
        <p:xfrm>
          <a:off x="786384" y="1216152"/>
          <a:ext cx="10858500" cy="5263388"/>
        </p:xfrm>
        <a:graphic>
          <a:graphicData uri="http://schemas.openxmlformats.org/drawingml/2006/table">
            <a:tbl>
              <a:tblPr firstRow="1" bandRow="1">
                <a:tableStyleId>{93296810-A885-4BE3-A3E7-6D5BEEA58F35}</a:tableStyleId>
              </a:tblPr>
              <a:tblGrid>
                <a:gridCol w="1206500">
                  <a:extLst>
                    <a:ext uri="{9D8B030D-6E8A-4147-A177-3AD203B41FA5}">
                      <a16:colId xmlns:a16="http://schemas.microsoft.com/office/drawing/2014/main" val="20000"/>
                    </a:ext>
                  </a:extLst>
                </a:gridCol>
                <a:gridCol w="12065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065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gridCol w="1206500">
                  <a:extLst>
                    <a:ext uri="{9D8B030D-6E8A-4147-A177-3AD203B41FA5}">
                      <a16:colId xmlns:a16="http://schemas.microsoft.com/office/drawing/2014/main" val="20006"/>
                    </a:ext>
                  </a:extLst>
                </a:gridCol>
                <a:gridCol w="1206500">
                  <a:extLst>
                    <a:ext uri="{9D8B030D-6E8A-4147-A177-3AD203B41FA5}">
                      <a16:colId xmlns:a16="http://schemas.microsoft.com/office/drawing/2014/main" val="20007"/>
                    </a:ext>
                  </a:extLst>
                </a:gridCol>
                <a:gridCol w="1206500">
                  <a:extLst>
                    <a:ext uri="{9D8B030D-6E8A-4147-A177-3AD203B41FA5}">
                      <a16:colId xmlns:a16="http://schemas.microsoft.com/office/drawing/2014/main" val="20008"/>
                    </a:ext>
                  </a:extLst>
                </a:gridCol>
              </a:tblGrid>
              <a:tr h="1034288">
                <a:tc>
                  <a:txBody>
                    <a:bodyPr/>
                    <a:lstStyle/>
                    <a:p>
                      <a:pPr algn="ctr" defTabSz="914400"/>
                      <a:r>
                        <a:rPr sz="1400" b="1" dirty="0">
                          <a:latin typeface="Arial"/>
                        </a:rPr>
                        <a:t>Month</a:t>
                      </a:r>
                    </a:p>
                  </a:txBody>
                  <a:tcPr anchor="ctr" horzOverflow="overflow"/>
                </a:tc>
                <a:tc>
                  <a:txBody>
                    <a:bodyPr/>
                    <a:lstStyle/>
                    <a:p>
                      <a:pPr algn="ctr" defTabSz="914400"/>
                      <a:r>
                        <a:rPr sz="1400" b="1" dirty="0">
                          <a:latin typeface="Arial"/>
                        </a:rPr>
                        <a:t>Product A</a:t>
                      </a:r>
                    </a:p>
                  </a:txBody>
                  <a:tcPr anchor="ctr" horzOverflow="overflow"/>
                </a:tc>
                <a:tc>
                  <a:txBody>
                    <a:bodyPr/>
                    <a:lstStyle/>
                    <a:p>
                      <a:pPr algn="ctr" defTabSz="914400"/>
                      <a:r>
                        <a:rPr sz="1400" b="1" dirty="0">
                          <a:latin typeface="Arial"/>
                        </a:rPr>
                        <a:t>Product B</a:t>
                      </a:r>
                    </a:p>
                  </a:txBody>
                  <a:tcPr anchor="ctr" horzOverflow="overflow"/>
                </a:tc>
                <a:tc>
                  <a:txBody>
                    <a:bodyPr/>
                    <a:lstStyle/>
                    <a:p>
                      <a:pPr algn="ctr" defTabSz="914400"/>
                      <a:r>
                        <a:rPr sz="1400" b="1" dirty="0">
                          <a:latin typeface="Arial"/>
                        </a:rPr>
                        <a:t>Product C</a:t>
                      </a:r>
                    </a:p>
                  </a:txBody>
                  <a:tcPr anchor="ctr" horzOverflow="overflow"/>
                </a:tc>
                <a:tc>
                  <a:txBody>
                    <a:bodyPr/>
                    <a:lstStyle/>
                    <a:p>
                      <a:pPr algn="ctr" defTabSz="914400"/>
                      <a:r>
                        <a:rPr sz="1400" b="1" dirty="0">
                          <a:latin typeface="Arial"/>
                        </a:rPr>
                        <a:t>Product D</a:t>
                      </a:r>
                    </a:p>
                  </a:txBody>
                  <a:tcPr anchor="ctr" horzOverflow="overflow"/>
                </a:tc>
                <a:tc>
                  <a:txBody>
                    <a:bodyPr/>
                    <a:lstStyle/>
                    <a:p>
                      <a:pPr algn="ctr" defTabSz="914400"/>
                      <a:r>
                        <a:rPr sz="1400" b="1" dirty="0">
                          <a:latin typeface="Arial"/>
                        </a:rPr>
                        <a:t>Product E</a:t>
                      </a:r>
                    </a:p>
                  </a:txBody>
                  <a:tcPr anchor="ctr" horzOverflow="overflow"/>
                </a:tc>
                <a:tc>
                  <a:txBody>
                    <a:bodyPr/>
                    <a:lstStyle/>
                    <a:p>
                      <a:pPr algn="ctr" defTabSz="914400"/>
                      <a:r>
                        <a:rPr sz="1400" b="1" dirty="0">
                          <a:latin typeface="Arial"/>
                        </a:rPr>
                        <a:t>Product F</a:t>
                      </a:r>
                    </a:p>
                  </a:txBody>
                  <a:tcPr anchor="ctr" horzOverflow="overflow"/>
                </a:tc>
                <a:tc>
                  <a:txBody>
                    <a:bodyPr/>
                    <a:lstStyle/>
                    <a:p>
                      <a:pPr algn="ctr" defTabSz="914400"/>
                      <a:r>
                        <a:rPr sz="1400" b="1" dirty="0">
                          <a:latin typeface="Arial"/>
                        </a:rPr>
                        <a:t>Average</a:t>
                      </a:r>
                    </a:p>
                  </a:txBody>
                  <a:tcPr anchor="ctr" horzOverflow="overflow"/>
                </a:tc>
                <a:tc>
                  <a:txBody>
                    <a:bodyPr/>
                    <a:lstStyle/>
                    <a:p>
                      <a:pPr algn="ctr" defTabSz="914400"/>
                      <a:r>
                        <a:rPr sz="1400" b="1" dirty="0">
                          <a:latin typeface="Arial"/>
                        </a:rPr>
                        <a:t>Target</a:t>
                      </a:r>
                    </a:p>
                  </a:txBody>
                  <a:tcPr anchor="ctr" horzOverflow="overflow"/>
                </a:tc>
                <a:extLst>
                  <a:ext uri="{0D108BD9-81ED-4DB2-BD59-A6C34878D82A}">
                    <a16:rowId xmlns:a16="http://schemas.microsoft.com/office/drawing/2014/main" val="10000"/>
                  </a:ext>
                </a:extLst>
              </a:tr>
              <a:tr h="469900">
                <a:tc>
                  <a:txBody>
                    <a:bodyPr/>
                    <a:lstStyle/>
                    <a:p>
                      <a:pPr algn="l" defTabSz="914400"/>
                      <a:r>
                        <a:rPr sz="1400" dirty="0">
                          <a:latin typeface="Arial"/>
                        </a:rPr>
                        <a:t>Jan</a:t>
                      </a:r>
                    </a:p>
                  </a:txBody>
                  <a:tcPr horzOverflow="overflow"/>
                </a:tc>
                <a:tc>
                  <a:txBody>
                    <a:bodyPr/>
                    <a:lstStyle/>
                    <a:p>
                      <a:pPr algn="l" defTabSz="914400"/>
                      <a:r>
                        <a:rPr sz="1400" dirty="0">
                          <a:latin typeface="Arial"/>
                        </a:rPr>
                        <a:t>20000</a:t>
                      </a:r>
                    </a:p>
                  </a:txBody>
                  <a:tcPr horzOverflow="overflow"/>
                </a:tc>
                <a:tc>
                  <a:txBody>
                    <a:bodyPr/>
                    <a:lstStyle/>
                    <a:p>
                      <a:pPr algn="l" defTabSz="914400"/>
                      <a:r>
                        <a:rPr sz="1400" dirty="0">
                          <a:latin typeface="Arial"/>
                        </a:rPr>
                        <a:t>4200</a:t>
                      </a:r>
                    </a:p>
                  </a:txBody>
                  <a:tcPr horzOverflow="overflow"/>
                </a:tc>
                <a:tc>
                  <a:txBody>
                    <a:bodyPr/>
                    <a:lstStyle/>
                    <a:p>
                      <a:pPr algn="l" defTabSz="914400"/>
                      <a:r>
                        <a:rPr sz="1400" dirty="0">
                          <a:latin typeface="Arial"/>
                        </a:rPr>
                        <a:t>8000</a:t>
                      </a:r>
                    </a:p>
                  </a:txBody>
                  <a:tcPr horzOverflow="overflow"/>
                </a:tc>
                <a:tc>
                  <a:txBody>
                    <a:bodyPr/>
                    <a:lstStyle/>
                    <a:p>
                      <a:pPr algn="l" defTabSz="914400"/>
                      <a:r>
                        <a:rPr sz="1400" dirty="0">
                          <a:latin typeface="Arial"/>
                        </a:rPr>
                        <a:t>12000</a:t>
                      </a:r>
                    </a:p>
                  </a:txBody>
                  <a:tcPr horzOverflow="overflow"/>
                </a:tc>
                <a:tc>
                  <a:txBody>
                    <a:bodyPr/>
                    <a:lstStyle/>
                    <a:p>
                      <a:pPr algn="l" defTabSz="914400"/>
                      <a:r>
                        <a:rPr sz="1400" dirty="0">
                          <a:latin typeface="Arial"/>
                        </a:rPr>
                        <a:t>4700</a:t>
                      </a:r>
                    </a:p>
                  </a:txBody>
                  <a:tcPr horzOverflow="overflow"/>
                </a:tc>
                <a:tc>
                  <a:txBody>
                    <a:bodyPr/>
                    <a:lstStyle/>
                    <a:p>
                      <a:pPr algn="l" defTabSz="914400"/>
                      <a:r>
                        <a:rPr sz="1400" dirty="0">
                          <a:latin typeface="Arial"/>
                        </a:rPr>
                        <a:t>15000</a:t>
                      </a:r>
                    </a:p>
                  </a:txBody>
                  <a:tcPr horzOverflow="overflow"/>
                </a:tc>
                <a:tc>
                  <a:txBody>
                    <a:bodyPr/>
                    <a:lstStyle/>
                    <a:p>
                      <a:pPr algn="l" defTabSz="914400"/>
                      <a:r>
                        <a:rPr sz="1400" dirty="0">
                          <a:latin typeface="Arial"/>
                        </a:rPr>
                        <a:t>10650</a:t>
                      </a:r>
                    </a:p>
                  </a:txBody>
                  <a:tcPr horzOverflow="overflow"/>
                </a:tc>
                <a:tc>
                  <a:txBody>
                    <a:bodyPr/>
                    <a:lstStyle/>
                    <a:p>
                      <a:pPr algn="l" defTabSz="914400"/>
                      <a:r>
                        <a:rPr sz="1400" dirty="0">
                          <a:latin typeface="Arial"/>
                        </a:rPr>
                        <a:t>35000</a:t>
                      </a:r>
                    </a:p>
                  </a:txBody>
                  <a:tcPr horzOverflow="overflow"/>
                </a:tc>
                <a:extLst>
                  <a:ext uri="{0D108BD9-81ED-4DB2-BD59-A6C34878D82A}">
                    <a16:rowId xmlns:a16="http://schemas.microsoft.com/office/drawing/2014/main" val="10001"/>
                  </a:ext>
                </a:extLst>
              </a:tr>
              <a:tr h="469900">
                <a:tc>
                  <a:txBody>
                    <a:bodyPr/>
                    <a:lstStyle/>
                    <a:p>
                      <a:pPr algn="l" defTabSz="914400"/>
                      <a:r>
                        <a:rPr sz="1400" dirty="0">
                          <a:latin typeface="Arial"/>
                        </a:rPr>
                        <a:t>Feb</a:t>
                      </a:r>
                    </a:p>
                  </a:txBody>
                  <a:tcPr horzOverflow="overflow"/>
                </a:tc>
                <a:tc>
                  <a:txBody>
                    <a:bodyPr/>
                    <a:lstStyle/>
                    <a:p>
                      <a:pPr algn="l" defTabSz="914400"/>
                      <a:r>
                        <a:rPr sz="1400" dirty="0">
                          <a:latin typeface="Arial"/>
                        </a:rPr>
                        <a:t>8300</a:t>
                      </a:r>
                    </a:p>
                  </a:txBody>
                  <a:tcPr horzOverflow="overflow"/>
                </a:tc>
                <a:tc>
                  <a:txBody>
                    <a:bodyPr/>
                    <a:lstStyle/>
                    <a:p>
                      <a:pPr algn="l" defTabSz="914400"/>
                      <a:r>
                        <a:rPr sz="1400" dirty="0">
                          <a:latin typeface="Arial"/>
                        </a:rPr>
                        <a:t>19000</a:t>
                      </a:r>
                    </a:p>
                  </a:txBody>
                  <a:tcPr horzOverflow="overflow"/>
                </a:tc>
                <a:tc>
                  <a:txBody>
                    <a:bodyPr/>
                    <a:lstStyle/>
                    <a:p>
                      <a:pPr algn="l" defTabSz="914400"/>
                      <a:r>
                        <a:rPr sz="1400" dirty="0">
                          <a:latin typeface="Arial"/>
                        </a:rPr>
                        <a:t>21000</a:t>
                      </a:r>
                    </a:p>
                  </a:txBody>
                  <a:tcPr horzOverflow="overflow"/>
                </a:tc>
                <a:tc>
                  <a:txBody>
                    <a:bodyPr/>
                    <a:lstStyle/>
                    <a:p>
                      <a:pPr algn="l" defTabSz="914400"/>
                      <a:r>
                        <a:rPr sz="1400" dirty="0">
                          <a:latin typeface="Arial"/>
                        </a:rPr>
                        <a:t>15230</a:t>
                      </a:r>
                    </a:p>
                  </a:txBody>
                  <a:tcPr horzOverflow="overflow"/>
                </a:tc>
                <a:tc>
                  <a:txBody>
                    <a:bodyPr/>
                    <a:lstStyle/>
                    <a:p>
                      <a:pPr algn="l" defTabSz="914400"/>
                      <a:r>
                        <a:rPr sz="1400" dirty="0">
                          <a:latin typeface="Arial"/>
                        </a:rPr>
                        <a:t>7230</a:t>
                      </a:r>
                    </a:p>
                  </a:txBody>
                  <a:tcPr horzOverflow="overflow"/>
                </a:tc>
                <a:tc>
                  <a:txBody>
                    <a:bodyPr/>
                    <a:lstStyle/>
                    <a:p>
                      <a:pPr algn="l" defTabSz="914400"/>
                      <a:r>
                        <a:rPr sz="1400" dirty="0">
                          <a:latin typeface="Arial"/>
                        </a:rPr>
                        <a:t>1800</a:t>
                      </a:r>
                    </a:p>
                  </a:txBody>
                  <a:tcPr horzOverflow="overflow"/>
                </a:tc>
                <a:tc>
                  <a:txBody>
                    <a:bodyPr/>
                    <a:lstStyle/>
                    <a:p>
                      <a:pPr algn="l" defTabSz="914400"/>
                      <a:r>
                        <a:rPr sz="1400" dirty="0">
                          <a:latin typeface="Arial"/>
                        </a:rPr>
                        <a:t>12093</a:t>
                      </a:r>
                    </a:p>
                  </a:txBody>
                  <a:tcPr horzOverflow="overflow"/>
                </a:tc>
                <a:tc>
                  <a:txBody>
                    <a:bodyPr/>
                    <a:lstStyle/>
                    <a:p>
                      <a:pPr algn="l" defTabSz="914400"/>
                      <a:r>
                        <a:rPr sz="1400" dirty="0">
                          <a:latin typeface="Arial"/>
                        </a:rPr>
                        <a:t>18000</a:t>
                      </a:r>
                    </a:p>
                  </a:txBody>
                  <a:tcPr horzOverflow="overflow"/>
                </a:tc>
                <a:extLst>
                  <a:ext uri="{0D108BD9-81ED-4DB2-BD59-A6C34878D82A}">
                    <a16:rowId xmlns:a16="http://schemas.microsoft.com/office/drawing/2014/main" val="10002"/>
                  </a:ext>
                </a:extLst>
              </a:tr>
              <a:tr h="469900">
                <a:tc>
                  <a:txBody>
                    <a:bodyPr/>
                    <a:lstStyle/>
                    <a:p>
                      <a:pPr algn="l" defTabSz="914400"/>
                      <a:r>
                        <a:rPr sz="1400" dirty="0">
                          <a:latin typeface="Arial"/>
                        </a:rPr>
                        <a:t>Mar</a:t>
                      </a:r>
                    </a:p>
                  </a:txBody>
                  <a:tcPr horzOverflow="overflow"/>
                </a:tc>
                <a:tc>
                  <a:txBody>
                    <a:bodyPr/>
                    <a:lstStyle/>
                    <a:p>
                      <a:pPr algn="l" defTabSz="914400"/>
                      <a:r>
                        <a:rPr sz="1400" dirty="0">
                          <a:latin typeface="Arial"/>
                        </a:rPr>
                        <a:t>4600</a:t>
                      </a:r>
                    </a:p>
                  </a:txBody>
                  <a:tcPr horzOverflow="overflow"/>
                </a:tc>
                <a:tc>
                  <a:txBody>
                    <a:bodyPr/>
                    <a:lstStyle/>
                    <a:p>
                      <a:pPr algn="l" defTabSz="914400"/>
                      <a:r>
                        <a:rPr sz="1400" dirty="0">
                          <a:latin typeface="Arial"/>
                        </a:rPr>
                        <a:t>9000</a:t>
                      </a:r>
                    </a:p>
                  </a:txBody>
                  <a:tcPr horzOverflow="overflow"/>
                </a:tc>
                <a:tc>
                  <a:txBody>
                    <a:bodyPr/>
                    <a:lstStyle/>
                    <a:p>
                      <a:pPr algn="l" defTabSz="914400"/>
                      <a:r>
                        <a:rPr sz="1400" dirty="0">
                          <a:latin typeface="Arial"/>
                        </a:rPr>
                        <a:t>7500</a:t>
                      </a:r>
                    </a:p>
                  </a:txBody>
                  <a:tcPr horzOverflow="overflow"/>
                </a:tc>
                <a:tc>
                  <a:txBody>
                    <a:bodyPr/>
                    <a:lstStyle/>
                    <a:p>
                      <a:pPr algn="l" defTabSz="914400"/>
                      <a:r>
                        <a:rPr sz="1400" dirty="0">
                          <a:latin typeface="Arial"/>
                        </a:rPr>
                        <a:t>8000</a:t>
                      </a:r>
                    </a:p>
                  </a:txBody>
                  <a:tcPr horzOverflow="overflow"/>
                </a:tc>
                <a:tc>
                  <a:txBody>
                    <a:bodyPr/>
                    <a:lstStyle/>
                    <a:p>
                      <a:pPr algn="l" defTabSz="914400"/>
                      <a:r>
                        <a:rPr sz="1400" dirty="0">
                          <a:latin typeface="Arial"/>
                        </a:rPr>
                        <a:t>30000</a:t>
                      </a:r>
                    </a:p>
                  </a:txBody>
                  <a:tcPr horzOverflow="overflow"/>
                </a:tc>
                <a:tc>
                  <a:txBody>
                    <a:bodyPr/>
                    <a:lstStyle/>
                    <a:p>
                      <a:pPr algn="l" defTabSz="914400"/>
                      <a:r>
                        <a:rPr sz="1400" dirty="0">
                          <a:latin typeface="Arial"/>
                        </a:rPr>
                        <a:t>22000</a:t>
                      </a:r>
                    </a:p>
                  </a:txBody>
                  <a:tcPr horzOverflow="overflow"/>
                </a:tc>
                <a:tc>
                  <a:txBody>
                    <a:bodyPr/>
                    <a:lstStyle/>
                    <a:p>
                      <a:pPr algn="l" defTabSz="914400"/>
                      <a:r>
                        <a:rPr sz="1400" dirty="0">
                          <a:latin typeface="Arial"/>
                        </a:rPr>
                        <a:t>13517</a:t>
                      </a:r>
                    </a:p>
                  </a:txBody>
                  <a:tcPr horzOverflow="overflow"/>
                </a:tc>
                <a:tc>
                  <a:txBody>
                    <a:bodyPr/>
                    <a:lstStyle/>
                    <a:p>
                      <a:pPr algn="l" defTabSz="914400"/>
                      <a:r>
                        <a:rPr sz="1400" dirty="0">
                          <a:latin typeface="Arial"/>
                        </a:rPr>
                        <a:t>13200</a:t>
                      </a:r>
                    </a:p>
                  </a:txBody>
                  <a:tcPr horzOverflow="overflow"/>
                </a:tc>
                <a:extLst>
                  <a:ext uri="{0D108BD9-81ED-4DB2-BD59-A6C34878D82A}">
                    <a16:rowId xmlns:a16="http://schemas.microsoft.com/office/drawing/2014/main" val="10003"/>
                  </a:ext>
                </a:extLst>
              </a:tr>
              <a:tr h="469900">
                <a:tc>
                  <a:txBody>
                    <a:bodyPr/>
                    <a:lstStyle/>
                    <a:p>
                      <a:pPr algn="l" defTabSz="914400"/>
                      <a:r>
                        <a:rPr sz="1400" dirty="0">
                          <a:latin typeface="Arial"/>
                        </a:rPr>
                        <a:t>Apr</a:t>
                      </a:r>
                    </a:p>
                  </a:txBody>
                  <a:tcPr horzOverflow="overflow"/>
                </a:tc>
                <a:tc>
                  <a:txBody>
                    <a:bodyPr/>
                    <a:lstStyle/>
                    <a:p>
                      <a:pPr algn="l" defTabSz="914400"/>
                      <a:r>
                        <a:rPr sz="1400" dirty="0">
                          <a:latin typeface="Arial"/>
                        </a:rPr>
                        <a:t>3530</a:t>
                      </a:r>
                    </a:p>
                  </a:txBody>
                  <a:tcPr horzOverflow="overflow"/>
                </a:tc>
                <a:tc>
                  <a:txBody>
                    <a:bodyPr/>
                    <a:lstStyle/>
                    <a:p>
                      <a:pPr algn="l" defTabSz="914400"/>
                      <a:r>
                        <a:rPr sz="1400" dirty="0">
                          <a:latin typeface="Arial"/>
                        </a:rPr>
                        <a:t>13430</a:t>
                      </a:r>
                    </a:p>
                  </a:txBody>
                  <a:tcPr horzOverflow="overflow"/>
                </a:tc>
                <a:tc>
                  <a:txBody>
                    <a:bodyPr/>
                    <a:lstStyle/>
                    <a:p>
                      <a:pPr algn="l" defTabSz="914400"/>
                      <a:r>
                        <a:rPr sz="1400" dirty="0">
                          <a:latin typeface="Arial"/>
                        </a:rPr>
                        <a:t>3550</a:t>
                      </a:r>
                    </a:p>
                  </a:txBody>
                  <a:tcPr horzOverflow="overflow"/>
                </a:tc>
                <a:tc>
                  <a:txBody>
                    <a:bodyPr/>
                    <a:lstStyle/>
                    <a:p>
                      <a:pPr algn="l" defTabSz="914400"/>
                      <a:r>
                        <a:rPr sz="1400" dirty="0">
                          <a:latin typeface="Arial"/>
                        </a:rPr>
                        <a:t>10670</a:t>
                      </a:r>
                    </a:p>
                  </a:txBody>
                  <a:tcPr horzOverflow="overflow"/>
                </a:tc>
                <a:tc>
                  <a:txBody>
                    <a:bodyPr/>
                    <a:lstStyle/>
                    <a:p>
                      <a:pPr algn="l" defTabSz="914400"/>
                      <a:r>
                        <a:rPr sz="1400" dirty="0">
                          <a:latin typeface="Arial"/>
                        </a:rPr>
                        <a:t>27860</a:t>
                      </a:r>
                    </a:p>
                  </a:txBody>
                  <a:tcPr horzOverflow="overflow"/>
                </a:tc>
                <a:tc>
                  <a:txBody>
                    <a:bodyPr/>
                    <a:lstStyle/>
                    <a:p>
                      <a:pPr algn="l" defTabSz="914400"/>
                      <a:r>
                        <a:rPr sz="1400" dirty="0">
                          <a:latin typeface="Arial"/>
                        </a:rPr>
                        <a:t>5414</a:t>
                      </a:r>
                    </a:p>
                  </a:txBody>
                  <a:tcPr horzOverflow="overflow"/>
                </a:tc>
                <a:tc>
                  <a:txBody>
                    <a:bodyPr/>
                    <a:lstStyle/>
                    <a:p>
                      <a:pPr algn="l" defTabSz="914400"/>
                      <a:r>
                        <a:rPr sz="1400" dirty="0">
                          <a:latin typeface="Arial"/>
                        </a:rPr>
                        <a:t>10742</a:t>
                      </a:r>
                    </a:p>
                  </a:txBody>
                  <a:tcPr horzOverflow="overflow"/>
                </a:tc>
                <a:tc>
                  <a:txBody>
                    <a:bodyPr/>
                    <a:lstStyle/>
                    <a:p>
                      <a:pPr algn="l" defTabSz="914400"/>
                      <a:r>
                        <a:rPr sz="1400" dirty="0">
                          <a:latin typeface="Arial"/>
                        </a:rPr>
                        <a:t>50000</a:t>
                      </a:r>
                    </a:p>
                  </a:txBody>
                  <a:tcPr horzOverflow="overflow"/>
                </a:tc>
                <a:extLst>
                  <a:ext uri="{0D108BD9-81ED-4DB2-BD59-A6C34878D82A}">
                    <a16:rowId xmlns:a16="http://schemas.microsoft.com/office/drawing/2014/main" val="10004"/>
                  </a:ext>
                </a:extLst>
              </a:tr>
              <a:tr h="469900">
                <a:tc>
                  <a:txBody>
                    <a:bodyPr/>
                    <a:lstStyle/>
                    <a:p>
                      <a:pPr algn="l" defTabSz="914400"/>
                      <a:r>
                        <a:rPr sz="1400" dirty="0">
                          <a:latin typeface="Arial"/>
                        </a:rPr>
                        <a:t>May</a:t>
                      </a:r>
                    </a:p>
                  </a:txBody>
                  <a:tcPr horzOverflow="overflow"/>
                </a:tc>
                <a:tc>
                  <a:txBody>
                    <a:bodyPr/>
                    <a:lstStyle/>
                    <a:p>
                      <a:pPr algn="l" defTabSz="914400"/>
                      <a:r>
                        <a:rPr sz="1400" dirty="0">
                          <a:latin typeface="Arial"/>
                        </a:rPr>
                        <a:t>10293</a:t>
                      </a:r>
                    </a:p>
                  </a:txBody>
                  <a:tcPr horzOverflow="overflow"/>
                </a:tc>
                <a:tc>
                  <a:txBody>
                    <a:bodyPr/>
                    <a:lstStyle/>
                    <a:p>
                      <a:pPr algn="l" defTabSz="914400"/>
                      <a:r>
                        <a:rPr sz="1400" dirty="0">
                          <a:latin typeface="Arial"/>
                        </a:rPr>
                        <a:t>23760</a:t>
                      </a:r>
                    </a:p>
                  </a:txBody>
                  <a:tcPr horzOverflow="overflow"/>
                </a:tc>
                <a:tc>
                  <a:txBody>
                    <a:bodyPr/>
                    <a:lstStyle/>
                    <a:p>
                      <a:pPr algn="l" defTabSz="914400"/>
                      <a:r>
                        <a:rPr sz="1400" dirty="0">
                          <a:latin typeface="Arial"/>
                        </a:rPr>
                        <a:t>10378</a:t>
                      </a:r>
                    </a:p>
                  </a:txBody>
                  <a:tcPr horzOverflow="overflow"/>
                </a:tc>
                <a:tc>
                  <a:txBody>
                    <a:bodyPr/>
                    <a:lstStyle/>
                    <a:p>
                      <a:pPr algn="l" defTabSz="914400"/>
                      <a:r>
                        <a:rPr sz="1400" dirty="0">
                          <a:latin typeface="Arial"/>
                        </a:rPr>
                        <a:t>24857</a:t>
                      </a:r>
                    </a:p>
                  </a:txBody>
                  <a:tcPr horzOverflow="overflow"/>
                </a:tc>
                <a:tc>
                  <a:txBody>
                    <a:bodyPr/>
                    <a:lstStyle/>
                    <a:p>
                      <a:pPr algn="l" defTabSz="914400"/>
                      <a:r>
                        <a:rPr sz="1400" dirty="0">
                          <a:latin typeface="Arial"/>
                        </a:rPr>
                        <a:t>12104</a:t>
                      </a:r>
                    </a:p>
                  </a:txBody>
                  <a:tcPr horzOverflow="overflow"/>
                </a:tc>
                <a:tc>
                  <a:txBody>
                    <a:bodyPr/>
                    <a:lstStyle/>
                    <a:p>
                      <a:pPr algn="l" defTabSz="914400"/>
                      <a:r>
                        <a:rPr sz="1400" dirty="0">
                          <a:latin typeface="Arial"/>
                        </a:rPr>
                        <a:t>21350</a:t>
                      </a:r>
                    </a:p>
                  </a:txBody>
                  <a:tcPr horzOverflow="overflow"/>
                </a:tc>
                <a:tc>
                  <a:txBody>
                    <a:bodyPr/>
                    <a:lstStyle/>
                    <a:p>
                      <a:pPr algn="l" defTabSz="914400"/>
                      <a:r>
                        <a:rPr sz="1400" dirty="0">
                          <a:latin typeface="Arial"/>
                        </a:rPr>
                        <a:t>17124</a:t>
                      </a:r>
                    </a:p>
                  </a:txBody>
                  <a:tcPr horzOverflow="overflow"/>
                </a:tc>
                <a:tc>
                  <a:txBody>
                    <a:bodyPr/>
                    <a:lstStyle/>
                    <a:p>
                      <a:pPr algn="l" defTabSz="914400"/>
                      <a:r>
                        <a:rPr sz="1400" dirty="0">
                          <a:latin typeface="Arial"/>
                        </a:rPr>
                        <a:t>25460</a:t>
                      </a:r>
                    </a:p>
                  </a:txBody>
                  <a:tcPr horzOverflow="overflow"/>
                </a:tc>
                <a:extLst>
                  <a:ext uri="{0D108BD9-81ED-4DB2-BD59-A6C34878D82A}">
                    <a16:rowId xmlns:a16="http://schemas.microsoft.com/office/drawing/2014/main" val="10005"/>
                  </a:ext>
                </a:extLst>
              </a:tr>
              <a:tr h="469900">
                <a:tc>
                  <a:txBody>
                    <a:bodyPr/>
                    <a:lstStyle/>
                    <a:p>
                      <a:pPr algn="l" defTabSz="914400"/>
                      <a:r>
                        <a:rPr sz="1400" dirty="0">
                          <a:latin typeface="Arial"/>
                        </a:rPr>
                        <a:t>Jun</a:t>
                      </a:r>
                    </a:p>
                  </a:txBody>
                  <a:tcPr horzOverflow="overflow"/>
                </a:tc>
                <a:tc>
                  <a:txBody>
                    <a:bodyPr/>
                    <a:lstStyle/>
                    <a:p>
                      <a:pPr algn="l" defTabSz="914400"/>
                      <a:r>
                        <a:rPr sz="1400" dirty="0">
                          <a:latin typeface="Arial"/>
                        </a:rPr>
                        <a:t>9070</a:t>
                      </a:r>
                    </a:p>
                  </a:txBody>
                  <a:tcPr horzOverflow="overflow"/>
                </a:tc>
                <a:tc>
                  <a:txBody>
                    <a:bodyPr/>
                    <a:lstStyle/>
                    <a:p>
                      <a:pPr algn="l" defTabSz="914400"/>
                      <a:r>
                        <a:rPr sz="1400" dirty="0">
                          <a:latin typeface="Arial"/>
                        </a:rPr>
                        <a:t>8218</a:t>
                      </a:r>
                    </a:p>
                  </a:txBody>
                  <a:tcPr horzOverflow="overflow"/>
                </a:tc>
                <a:tc>
                  <a:txBody>
                    <a:bodyPr/>
                    <a:lstStyle/>
                    <a:p>
                      <a:pPr algn="l" defTabSz="914400"/>
                      <a:r>
                        <a:rPr sz="1400" dirty="0">
                          <a:latin typeface="Arial"/>
                        </a:rPr>
                        <a:t>23480</a:t>
                      </a:r>
                    </a:p>
                  </a:txBody>
                  <a:tcPr horzOverflow="overflow"/>
                </a:tc>
                <a:tc>
                  <a:txBody>
                    <a:bodyPr/>
                    <a:lstStyle/>
                    <a:p>
                      <a:pPr algn="l" defTabSz="914400"/>
                      <a:r>
                        <a:rPr sz="1400" dirty="0">
                          <a:latin typeface="Arial"/>
                        </a:rPr>
                        <a:t>20492</a:t>
                      </a:r>
                    </a:p>
                  </a:txBody>
                  <a:tcPr horzOverflow="overflow"/>
                </a:tc>
                <a:tc>
                  <a:txBody>
                    <a:bodyPr/>
                    <a:lstStyle/>
                    <a:p>
                      <a:pPr algn="l" defTabSz="914400"/>
                      <a:r>
                        <a:rPr sz="1400" dirty="0">
                          <a:latin typeface="Arial"/>
                        </a:rPr>
                        <a:t>9103</a:t>
                      </a:r>
                    </a:p>
                  </a:txBody>
                  <a:tcPr horzOverflow="overflow"/>
                </a:tc>
                <a:tc>
                  <a:txBody>
                    <a:bodyPr/>
                    <a:lstStyle/>
                    <a:p>
                      <a:pPr algn="l" defTabSz="914400"/>
                      <a:r>
                        <a:rPr sz="1400" dirty="0">
                          <a:latin typeface="Arial"/>
                        </a:rPr>
                        <a:t>12300</a:t>
                      </a:r>
                    </a:p>
                  </a:txBody>
                  <a:tcPr horzOverflow="overflow"/>
                </a:tc>
                <a:tc>
                  <a:txBody>
                    <a:bodyPr/>
                    <a:lstStyle/>
                    <a:p>
                      <a:pPr algn="l" defTabSz="914400"/>
                      <a:r>
                        <a:rPr sz="1400" dirty="0">
                          <a:latin typeface="Arial"/>
                        </a:rPr>
                        <a:t>13777</a:t>
                      </a:r>
                    </a:p>
                  </a:txBody>
                  <a:tcPr horzOverflow="overflow"/>
                </a:tc>
                <a:tc>
                  <a:txBody>
                    <a:bodyPr/>
                    <a:lstStyle/>
                    <a:p>
                      <a:pPr algn="l" defTabSz="914400"/>
                      <a:r>
                        <a:rPr sz="1400" dirty="0">
                          <a:latin typeface="Arial"/>
                        </a:rPr>
                        <a:t>21600</a:t>
                      </a:r>
                    </a:p>
                  </a:txBody>
                  <a:tcPr horzOverflow="overflow"/>
                </a:tc>
                <a:extLst>
                  <a:ext uri="{0D108BD9-81ED-4DB2-BD59-A6C34878D82A}">
                    <a16:rowId xmlns:a16="http://schemas.microsoft.com/office/drawing/2014/main" val="10006"/>
                  </a:ext>
                </a:extLst>
              </a:tr>
              <a:tr h="469900">
                <a:tc>
                  <a:txBody>
                    <a:bodyPr/>
                    <a:lstStyle/>
                    <a:p>
                      <a:pPr algn="l" defTabSz="914400"/>
                      <a:r>
                        <a:rPr sz="1400" dirty="0">
                          <a:latin typeface="Arial"/>
                        </a:rPr>
                        <a:t>Jul</a:t>
                      </a:r>
                    </a:p>
                  </a:txBody>
                  <a:tcPr horzOverflow="overflow"/>
                </a:tc>
                <a:tc>
                  <a:txBody>
                    <a:bodyPr/>
                    <a:lstStyle/>
                    <a:p>
                      <a:pPr algn="l" defTabSz="914400"/>
                      <a:r>
                        <a:rPr sz="1400" dirty="0">
                          <a:latin typeface="Arial"/>
                        </a:rPr>
                        <a:t>23500</a:t>
                      </a:r>
                    </a:p>
                  </a:txBody>
                  <a:tcPr horzOverflow="overflow"/>
                </a:tc>
                <a:tc>
                  <a:txBody>
                    <a:bodyPr/>
                    <a:lstStyle/>
                    <a:p>
                      <a:pPr algn="l" defTabSz="914400"/>
                      <a:r>
                        <a:rPr sz="1400" dirty="0">
                          <a:latin typeface="Arial"/>
                        </a:rPr>
                        <a:t>19230</a:t>
                      </a:r>
                    </a:p>
                  </a:txBody>
                  <a:tcPr horzOverflow="overflow"/>
                </a:tc>
                <a:tc>
                  <a:txBody>
                    <a:bodyPr/>
                    <a:lstStyle/>
                    <a:p>
                      <a:pPr algn="l" defTabSz="914400"/>
                      <a:r>
                        <a:rPr sz="1400" dirty="0">
                          <a:latin typeface="Arial"/>
                        </a:rPr>
                        <a:t>87390</a:t>
                      </a:r>
                    </a:p>
                  </a:txBody>
                  <a:tcPr horzOverflow="overflow"/>
                </a:tc>
                <a:tc>
                  <a:txBody>
                    <a:bodyPr/>
                    <a:lstStyle/>
                    <a:p>
                      <a:pPr algn="l" defTabSz="914400"/>
                      <a:r>
                        <a:rPr sz="1400" dirty="0">
                          <a:latin typeface="Arial"/>
                        </a:rPr>
                        <a:t>25030</a:t>
                      </a:r>
                    </a:p>
                  </a:txBody>
                  <a:tcPr horzOverflow="overflow"/>
                </a:tc>
                <a:tc>
                  <a:txBody>
                    <a:bodyPr/>
                    <a:lstStyle/>
                    <a:p>
                      <a:pPr algn="l" defTabSz="914400"/>
                      <a:r>
                        <a:rPr sz="1400" dirty="0">
                          <a:latin typeface="Arial"/>
                        </a:rPr>
                        <a:t>28000</a:t>
                      </a:r>
                    </a:p>
                  </a:txBody>
                  <a:tcPr horzOverflow="overflow"/>
                </a:tc>
                <a:tc>
                  <a:txBody>
                    <a:bodyPr/>
                    <a:lstStyle/>
                    <a:p>
                      <a:pPr algn="l" defTabSz="914400"/>
                      <a:r>
                        <a:rPr sz="1400" dirty="0">
                          <a:latin typeface="Arial"/>
                        </a:rPr>
                        <a:t>11890</a:t>
                      </a:r>
                    </a:p>
                  </a:txBody>
                  <a:tcPr horzOverflow="overflow"/>
                </a:tc>
                <a:tc>
                  <a:txBody>
                    <a:bodyPr/>
                    <a:lstStyle/>
                    <a:p>
                      <a:pPr algn="l" defTabSz="914400"/>
                      <a:r>
                        <a:rPr sz="1400" dirty="0">
                          <a:latin typeface="Arial"/>
                        </a:rPr>
                        <a:t>32507</a:t>
                      </a:r>
                    </a:p>
                  </a:txBody>
                  <a:tcPr horzOverflow="overflow"/>
                </a:tc>
                <a:tc>
                  <a:txBody>
                    <a:bodyPr/>
                    <a:lstStyle/>
                    <a:p>
                      <a:pPr algn="l" defTabSz="914400"/>
                      <a:r>
                        <a:rPr sz="1400" dirty="0">
                          <a:latin typeface="Arial"/>
                        </a:rPr>
                        <a:t>37800</a:t>
                      </a:r>
                    </a:p>
                  </a:txBody>
                  <a:tcPr horzOverflow="overflow"/>
                </a:tc>
                <a:extLst>
                  <a:ext uri="{0D108BD9-81ED-4DB2-BD59-A6C34878D82A}">
                    <a16:rowId xmlns:a16="http://schemas.microsoft.com/office/drawing/2014/main" val="10007"/>
                  </a:ext>
                </a:extLst>
              </a:tr>
              <a:tr h="469900">
                <a:tc>
                  <a:txBody>
                    <a:bodyPr/>
                    <a:lstStyle/>
                    <a:p>
                      <a:pPr algn="l" defTabSz="914400"/>
                      <a:r>
                        <a:rPr sz="1400" dirty="0">
                          <a:latin typeface="Arial"/>
                        </a:rPr>
                        <a:t>Aug</a:t>
                      </a:r>
                    </a:p>
                  </a:txBody>
                  <a:tcPr horzOverflow="overflow"/>
                </a:tc>
                <a:tc>
                  <a:txBody>
                    <a:bodyPr/>
                    <a:lstStyle/>
                    <a:p>
                      <a:pPr algn="l" defTabSz="914400"/>
                      <a:r>
                        <a:rPr sz="1400" dirty="0">
                          <a:latin typeface="Arial"/>
                        </a:rPr>
                        <a:t>39000</a:t>
                      </a:r>
                    </a:p>
                  </a:txBody>
                  <a:tcPr horzOverflow="overflow"/>
                </a:tc>
                <a:tc>
                  <a:txBody>
                    <a:bodyPr/>
                    <a:lstStyle/>
                    <a:p>
                      <a:pPr algn="l" defTabSz="914400"/>
                      <a:r>
                        <a:rPr sz="1400" dirty="0">
                          <a:latin typeface="Arial"/>
                        </a:rPr>
                        <a:t>30301</a:t>
                      </a:r>
                    </a:p>
                  </a:txBody>
                  <a:tcPr horzOverflow="overflow"/>
                </a:tc>
                <a:tc>
                  <a:txBody>
                    <a:bodyPr/>
                    <a:lstStyle/>
                    <a:p>
                      <a:pPr algn="l" defTabSz="914400"/>
                      <a:r>
                        <a:rPr sz="1400" dirty="0">
                          <a:latin typeface="Arial"/>
                        </a:rPr>
                        <a:t>78356</a:t>
                      </a:r>
                    </a:p>
                  </a:txBody>
                  <a:tcPr horzOverflow="overflow"/>
                </a:tc>
                <a:tc>
                  <a:txBody>
                    <a:bodyPr/>
                    <a:lstStyle/>
                    <a:p>
                      <a:pPr algn="l" defTabSz="914400"/>
                      <a:r>
                        <a:rPr sz="1400" dirty="0">
                          <a:latin typeface="Arial"/>
                        </a:rPr>
                        <a:t>21121</a:t>
                      </a:r>
                    </a:p>
                  </a:txBody>
                  <a:tcPr horzOverflow="overflow"/>
                </a:tc>
                <a:tc>
                  <a:txBody>
                    <a:bodyPr/>
                    <a:lstStyle/>
                    <a:p>
                      <a:pPr algn="l" defTabSz="914400"/>
                      <a:r>
                        <a:rPr sz="1400" dirty="0">
                          <a:latin typeface="Arial"/>
                        </a:rPr>
                        <a:t>30443</a:t>
                      </a:r>
                    </a:p>
                  </a:txBody>
                  <a:tcPr horzOverflow="overflow"/>
                </a:tc>
                <a:tc>
                  <a:txBody>
                    <a:bodyPr/>
                    <a:lstStyle/>
                    <a:p>
                      <a:pPr algn="l" defTabSz="914400"/>
                      <a:r>
                        <a:rPr sz="1400" dirty="0">
                          <a:latin typeface="Arial"/>
                        </a:rPr>
                        <a:t>23230</a:t>
                      </a:r>
                    </a:p>
                  </a:txBody>
                  <a:tcPr horzOverflow="overflow"/>
                </a:tc>
                <a:tc>
                  <a:txBody>
                    <a:bodyPr/>
                    <a:lstStyle/>
                    <a:p>
                      <a:pPr algn="l" defTabSz="914400"/>
                      <a:r>
                        <a:rPr sz="1400" dirty="0">
                          <a:latin typeface="Arial"/>
                        </a:rPr>
                        <a:t>37075</a:t>
                      </a:r>
                    </a:p>
                  </a:txBody>
                  <a:tcPr horzOverflow="overflow"/>
                </a:tc>
                <a:tc>
                  <a:txBody>
                    <a:bodyPr/>
                    <a:lstStyle/>
                    <a:p>
                      <a:pPr algn="l" defTabSz="914400"/>
                      <a:r>
                        <a:rPr sz="1400" dirty="0">
                          <a:latin typeface="Arial"/>
                        </a:rPr>
                        <a:t>40900</a:t>
                      </a:r>
                    </a:p>
                  </a:txBody>
                  <a:tcPr horzOverflow="overflow"/>
                </a:tc>
                <a:extLst>
                  <a:ext uri="{0D108BD9-81ED-4DB2-BD59-A6C34878D82A}">
                    <a16:rowId xmlns:a16="http://schemas.microsoft.com/office/drawing/2014/main" val="10008"/>
                  </a:ext>
                </a:extLst>
              </a:tr>
              <a:tr h="469900">
                <a:tc>
                  <a:txBody>
                    <a:bodyPr/>
                    <a:lstStyle/>
                    <a:p>
                      <a:pPr algn="l" defTabSz="914400"/>
                      <a:r>
                        <a:rPr sz="1400" dirty="0">
                          <a:latin typeface="Arial"/>
                        </a:rPr>
                        <a:t>Sep</a:t>
                      </a:r>
                    </a:p>
                  </a:txBody>
                  <a:tcPr horzOverflow="overflow"/>
                </a:tc>
                <a:tc>
                  <a:txBody>
                    <a:bodyPr/>
                    <a:lstStyle/>
                    <a:p>
                      <a:pPr algn="l" defTabSz="914400"/>
                      <a:r>
                        <a:rPr sz="1400" dirty="0">
                          <a:latin typeface="Arial"/>
                        </a:rPr>
                        <a:t>14340</a:t>
                      </a:r>
                    </a:p>
                  </a:txBody>
                  <a:tcPr horzOverflow="overflow"/>
                </a:tc>
                <a:tc>
                  <a:txBody>
                    <a:bodyPr/>
                    <a:lstStyle/>
                    <a:p>
                      <a:pPr algn="l" defTabSz="914400"/>
                      <a:r>
                        <a:rPr sz="1400" dirty="0">
                          <a:latin typeface="Arial"/>
                        </a:rPr>
                        <a:t>19403</a:t>
                      </a:r>
                    </a:p>
                  </a:txBody>
                  <a:tcPr horzOverflow="overflow"/>
                </a:tc>
                <a:tc>
                  <a:txBody>
                    <a:bodyPr/>
                    <a:lstStyle/>
                    <a:p>
                      <a:pPr algn="l" defTabSz="914400"/>
                      <a:r>
                        <a:rPr sz="1400" dirty="0">
                          <a:latin typeface="Arial"/>
                        </a:rPr>
                        <a:t>89024</a:t>
                      </a:r>
                    </a:p>
                  </a:txBody>
                  <a:tcPr horzOverflow="overflow"/>
                </a:tc>
                <a:tc>
                  <a:txBody>
                    <a:bodyPr/>
                    <a:lstStyle/>
                    <a:p>
                      <a:pPr algn="l" defTabSz="914400"/>
                      <a:r>
                        <a:rPr sz="1400" dirty="0">
                          <a:latin typeface="Arial"/>
                        </a:rPr>
                        <a:t>1230</a:t>
                      </a:r>
                    </a:p>
                  </a:txBody>
                  <a:tcPr horzOverflow="overflow"/>
                </a:tc>
                <a:tc>
                  <a:txBody>
                    <a:bodyPr/>
                    <a:lstStyle/>
                    <a:p>
                      <a:pPr algn="l" defTabSz="914400"/>
                      <a:r>
                        <a:rPr sz="1400" dirty="0">
                          <a:latin typeface="Arial"/>
                        </a:rPr>
                        <a:t>12561</a:t>
                      </a:r>
                    </a:p>
                  </a:txBody>
                  <a:tcPr horzOverflow="overflow"/>
                </a:tc>
                <a:tc>
                  <a:txBody>
                    <a:bodyPr/>
                    <a:lstStyle/>
                    <a:p>
                      <a:pPr algn="l" defTabSz="914400"/>
                      <a:r>
                        <a:rPr sz="1400" dirty="0">
                          <a:latin typeface="Arial"/>
                        </a:rPr>
                        <a:t>29000</a:t>
                      </a:r>
                    </a:p>
                  </a:txBody>
                  <a:tcPr horzOverflow="overflow"/>
                </a:tc>
                <a:tc>
                  <a:txBody>
                    <a:bodyPr/>
                    <a:lstStyle/>
                    <a:p>
                      <a:pPr algn="l" defTabSz="914400"/>
                      <a:r>
                        <a:rPr sz="1400" dirty="0">
                          <a:latin typeface="Arial"/>
                        </a:rPr>
                        <a:t>27593</a:t>
                      </a:r>
                    </a:p>
                  </a:txBody>
                  <a:tcPr horzOverflow="overflow"/>
                </a:tc>
                <a:tc>
                  <a:txBody>
                    <a:bodyPr/>
                    <a:lstStyle/>
                    <a:p>
                      <a:pPr algn="l" defTabSz="914400"/>
                      <a:r>
                        <a:rPr sz="1400" dirty="0">
                          <a:latin typeface="Arial"/>
                        </a:rPr>
                        <a:t>29800</a:t>
                      </a:r>
                    </a:p>
                  </a:txBody>
                  <a:tcPr horzOverflow="overflow"/>
                </a:tc>
                <a:extLst>
                  <a:ext uri="{0D108BD9-81ED-4DB2-BD59-A6C34878D82A}">
                    <a16:rowId xmlns:a16="http://schemas.microsoft.com/office/drawing/2014/main" val="10009"/>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TotalTime>
  <Words>313</Words>
  <Application>Microsoft Office PowerPoint</Application>
  <PresentationFormat>Widescreen</PresentationFormat>
  <Paragraphs>100</Paragraphs>
  <Slides>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Arial</vt:lpstr>
      <vt:lpstr>Calibri</vt:lpstr>
      <vt:lpstr>Calibri (Body)</vt:lpstr>
      <vt:lpstr>Calibri Light</vt:lpstr>
      <vt:lpstr>Helvetica CE 35 Thin</vt:lpstr>
      <vt:lpstr>Office Theme</vt:lpstr>
      <vt:lpstr>Company History</vt:lpstr>
      <vt:lpstr>Product Overview</vt:lpstr>
      <vt:lpstr>Target Vs PERFORMANCE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Vijayasurya Anandhan</dc:creator>
  <cp:lastModifiedBy>Dharanitharan Ayyasamy</cp:lastModifiedBy>
  <cp:revision>21</cp:revision>
  <dcterms:created xsi:type="dcterms:W3CDTF">2019-02-27T08:36:52Z</dcterms:created>
  <dcterms:modified xsi:type="dcterms:W3CDTF">2026-05-26T08:49:08Z</dcterms:modified>
</cp:coreProperties>
</file>