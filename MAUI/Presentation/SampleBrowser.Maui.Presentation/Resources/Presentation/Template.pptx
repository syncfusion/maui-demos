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7-4191-AAF5-BA179257C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57-4191-AAF5-BA179257C2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57-4191-AAF5-BA179257C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4599032"/>
        <c:axId val="524595752"/>
      </c:barChart>
      <c:catAx>
        <c:axId val="524599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5752"/>
        <c:crosses val="autoZero"/>
        <c:auto val="1"/>
        <c:lblAlgn val="ctr"/>
        <c:lblOffset val="100"/>
        <c:noMultiLvlLbl val="0"/>
      </c:catAx>
      <c:valAx>
        <c:axId val="524595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9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75894" y="1799971"/>
            <a:ext cx="11102213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The company has been listed as the trusted partner for many high-profile organizations </a:t>
            </a:r>
            <a:r>
              <a:rPr dirty="0">
                <a:highlight>
                  <a:srgbClr val="FFFF00"/>
                </a:highlight>
              </a:rPr>
              <a:t>since 1988</a:t>
            </a:r>
            <a:r>
              <a:rPr dirty="0"/>
              <a:t>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AutoNum type="arabicPeriod"/>
            </a:pPr>
            <a:r>
              <a:rPr dirty="0"/>
              <a:t>The company acquired the </a:t>
            </a:r>
            <a:r>
              <a:rPr dirty="0">
                <a:highlight>
                  <a:srgbClr val="00FF00"/>
                </a:highlight>
              </a:rPr>
              <a:t>MCY corporation for 20 billion dollars</a:t>
            </a:r>
            <a:r>
              <a:rPr dirty="0"/>
              <a:t> and became the top revenue maker for the year 2015.</a:t>
            </a:r>
          </a:p>
          <a:p>
            <a:pPr marL="444500" indent="-444500" defTabSz="914400">
              <a:buAutoNum type="arabicPeriod"/>
            </a:pPr>
            <a:r>
              <a:rPr dirty="0"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 bwMode="white">
          <a:xfrm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t>IMN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7F234-8050-2FF0-96AF-E57E18D3288C}"/>
              </a:ext>
            </a:extLst>
          </p:cNvPr>
          <p:cNvGraphicFramePr>
            <a:graphicFrameLocks noGrp="1"/>
          </p:cNvGraphicFramePr>
          <p:nvPr/>
        </p:nvGraphicFramePr>
        <p:xfrm>
          <a:off x="588252" y="2946158"/>
          <a:ext cx="10610690" cy="376083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61201">
                  <a:extLst>
                    <a:ext uri="{9D8B030D-6E8A-4147-A177-3AD203B41FA5}">
                      <a16:colId xmlns:a16="http://schemas.microsoft.com/office/drawing/2014/main" val="1464616093"/>
                    </a:ext>
                  </a:extLst>
                </a:gridCol>
                <a:gridCol w="8049489">
                  <a:extLst>
                    <a:ext uri="{9D8B030D-6E8A-4147-A177-3AD203B41FA5}">
                      <a16:colId xmlns:a16="http://schemas.microsoft.com/office/drawing/2014/main" val="1192474542"/>
                    </a:ext>
                  </a:extLst>
                </a:gridCol>
              </a:tblGrid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Project Vision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Launch a website on 4/18/2025 that allows customers to purchase products online and reflects Adventure Works Cycle having the highest quality and the best products in its category.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49554764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Issues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By the end of next month, if we do not have a finalized product image, we will not be able to meet our deployment deadline.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74283757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Milestone accomplished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Framed the basic structure of website.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Applied for design review.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424702825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Milestones planned for next week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Prepare design files for development.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Start development - Sprint 1 (Homepage &amp; Product Detail Page).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8024937"/>
                  </a:ext>
                </a:extLst>
              </a:tr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Upcoming milestones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3/14/2025 : Design Approval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3/29/2025 : Development Begins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4/13/2025 : Deployment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183265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D6B924-2B9F-B3DE-BBE1-E639A4ADAB3B}"/>
              </a:ext>
            </a:extLst>
          </p:cNvPr>
          <p:cNvSpPr txBox="1"/>
          <p:nvPr/>
        </p:nvSpPr>
        <p:spPr>
          <a:xfrm>
            <a:off x="548640" y="1371600"/>
            <a:ext cx="2005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rmField_TextBox 9">
            <a:extLst>
              <a:ext uri="{FF2B5EF4-FFF2-40B4-BE49-F238E27FC236}">
                <a16:creationId xmlns:a16="http://schemas.microsoft.com/office/drawing/2014/main" id="{197C4A2F-487A-7321-C8AD-A074D599DEE5}"/>
              </a:ext>
            </a:extLst>
          </p:cNvPr>
          <p:cNvSpPr txBox="1"/>
          <p:nvPr/>
        </p:nvSpPr>
        <p:spPr>
          <a:xfrm>
            <a:off x="2553927" y="1371600"/>
            <a:ext cx="469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4430-6FF4-BB15-4718-7594F7558754}"/>
              </a:ext>
            </a:extLst>
          </p:cNvPr>
          <p:cNvSpPr txBox="1"/>
          <p:nvPr/>
        </p:nvSpPr>
        <p:spPr>
          <a:xfrm>
            <a:off x="548640" y="111684"/>
            <a:ext cx="10650302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Status Report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0EDBF-C07E-47F1-E82D-201E68C10164}"/>
              </a:ext>
            </a:extLst>
          </p:cNvPr>
          <p:cNvSpPr txBox="1"/>
          <p:nvPr/>
        </p:nvSpPr>
        <p:spPr>
          <a:xfrm>
            <a:off x="548640" y="950976"/>
            <a:ext cx="200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:</a:t>
            </a:r>
          </a:p>
        </p:txBody>
      </p:sp>
      <p:sp>
        <p:nvSpPr>
          <p:cNvPr id="13" name="FormField_TextBox 12">
            <a:extLst>
              <a:ext uri="{FF2B5EF4-FFF2-40B4-BE49-F238E27FC236}">
                <a16:creationId xmlns:a16="http://schemas.microsoft.com/office/drawing/2014/main" id="{6C84F9BC-5BE8-053A-6EC1-27B0E5E208E8}"/>
              </a:ext>
            </a:extLst>
          </p:cNvPr>
          <p:cNvSpPr txBox="1"/>
          <p:nvPr/>
        </p:nvSpPr>
        <p:spPr>
          <a:xfrm>
            <a:off x="2553926" y="950976"/>
            <a:ext cx="469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In-Progress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5A13-0B30-07C1-858A-9145405B58A4}"/>
              </a:ext>
            </a:extLst>
          </p:cNvPr>
          <p:cNvSpPr txBox="1"/>
          <p:nvPr/>
        </p:nvSpPr>
        <p:spPr>
          <a:xfrm>
            <a:off x="548640" y="1792224"/>
            <a:ext cx="2005286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rmField_TextBox 14">
            <a:extLst>
              <a:ext uri="{FF2B5EF4-FFF2-40B4-BE49-F238E27FC236}">
                <a16:creationId xmlns:a16="http://schemas.microsoft.com/office/drawing/2014/main" id="{B7999298-A9AB-889F-264D-43DC5A1437EC}"/>
              </a:ext>
            </a:extLst>
          </p:cNvPr>
          <p:cNvSpPr txBox="1"/>
          <p:nvPr/>
        </p:nvSpPr>
        <p:spPr>
          <a:xfrm>
            <a:off x="2553926" y="1792224"/>
            <a:ext cx="4715553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for Adventure works cycle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BC359-62F2-06AC-C4CB-EB9FB44E2181}"/>
              </a:ext>
            </a:extLst>
          </p:cNvPr>
          <p:cNvSpPr txBox="1"/>
          <p:nvPr/>
        </p:nvSpPr>
        <p:spPr>
          <a:xfrm>
            <a:off x="548640" y="2304288"/>
            <a:ext cx="2005286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ormField_TextBox 16">
            <a:extLst>
              <a:ext uri="{FF2B5EF4-FFF2-40B4-BE49-F238E27FC236}">
                <a16:creationId xmlns:a16="http://schemas.microsoft.com/office/drawing/2014/main" id="{A17898EB-B710-4263-979C-BAC979F02489}"/>
              </a:ext>
            </a:extLst>
          </p:cNvPr>
          <p:cNvSpPr txBox="1"/>
          <p:nvPr/>
        </p:nvSpPr>
        <p:spPr>
          <a:xfrm>
            <a:off x="2553927" y="2304288"/>
            <a:ext cx="4690382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Nancy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Davolio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6B717-11D3-4971-B044-FBCF4FCCE792}"/>
              </a:ext>
            </a:extLst>
          </p:cNvPr>
          <p:cNvSpPr txBox="1"/>
          <p:nvPr/>
        </p:nvSpPr>
        <p:spPr>
          <a:xfrm>
            <a:off x="7269480" y="950976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size 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ormField_TextBox 18">
            <a:extLst>
              <a:ext uri="{FF2B5EF4-FFF2-40B4-BE49-F238E27FC236}">
                <a16:creationId xmlns:a16="http://schemas.microsoft.com/office/drawing/2014/main" id="{5B21B834-966A-2688-BCAF-326339EBDE33}"/>
              </a:ext>
            </a:extLst>
          </p:cNvPr>
          <p:cNvSpPr txBox="1"/>
          <p:nvPr/>
        </p:nvSpPr>
        <p:spPr>
          <a:xfrm>
            <a:off x="8823960" y="950976"/>
            <a:ext cx="2374982" cy="37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656A6-995A-F969-B802-85CA147C7C38}"/>
              </a:ext>
            </a:extLst>
          </p:cNvPr>
          <p:cNvSpPr txBox="1"/>
          <p:nvPr/>
        </p:nvSpPr>
        <p:spPr>
          <a:xfrm>
            <a:off x="7269480" y="1371600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ormField_TextBox 20">
            <a:extLst>
              <a:ext uri="{FF2B5EF4-FFF2-40B4-BE49-F238E27FC236}">
                <a16:creationId xmlns:a16="http://schemas.microsoft.com/office/drawing/2014/main" id="{62853D8A-7E05-98FC-3526-19891F888550}"/>
              </a:ext>
            </a:extLst>
          </p:cNvPr>
          <p:cNvSpPr txBox="1"/>
          <p:nvPr/>
        </p:nvSpPr>
        <p:spPr>
          <a:xfrm>
            <a:off x="8823960" y="1371600"/>
            <a:ext cx="2374982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4C8A2-E2E5-A20A-E797-867D92DF49F3}"/>
              </a:ext>
            </a:extLst>
          </p:cNvPr>
          <p:cNvSpPr txBox="1"/>
          <p:nvPr/>
        </p:nvSpPr>
        <p:spPr>
          <a:xfrm>
            <a:off x="7269480" y="1792224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Date :</a:t>
            </a:r>
          </a:p>
        </p:txBody>
      </p:sp>
      <p:sp>
        <p:nvSpPr>
          <p:cNvPr id="23" name="FormField_TextBox 22">
            <a:extLst>
              <a:ext uri="{FF2B5EF4-FFF2-40B4-BE49-F238E27FC236}">
                <a16:creationId xmlns:a16="http://schemas.microsoft.com/office/drawing/2014/main" id="{AB939302-6A65-F684-5DDD-E6C2DA5686C4}"/>
              </a:ext>
            </a:extLst>
          </p:cNvPr>
          <p:cNvSpPr txBox="1"/>
          <p:nvPr/>
        </p:nvSpPr>
        <p:spPr>
          <a:xfrm>
            <a:off x="8823960" y="1792224"/>
            <a:ext cx="23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967E-EC6B-64B4-18E4-2F07CD25E606}"/>
              </a:ext>
            </a:extLst>
          </p:cNvPr>
          <p:cNvSpPr txBox="1"/>
          <p:nvPr/>
        </p:nvSpPr>
        <p:spPr>
          <a:xfrm>
            <a:off x="7269480" y="2304288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Date :</a:t>
            </a:r>
          </a:p>
        </p:txBody>
      </p:sp>
      <p:sp>
        <p:nvSpPr>
          <p:cNvPr id="25" name="FormField_TextBox 24">
            <a:extLst>
              <a:ext uri="{FF2B5EF4-FFF2-40B4-BE49-F238E27FC236}">
                <a16:creationId xmlns:a16="http://schemas.microsoft.com/office/drawing/2014/main" id="{BBAB2B1F-AB52-212E-0AEC-C610A5F335D4}"/>
              </a:ext>
            </a:extLst>
          </p:cNvPr>
          <p:cNvSpPr txBox="1"/>
          <p:nvPr/>
        </p:nvSpPr>
        <p:spPr>
          <a:xfrm>
            <a:off x="8823960" y="2304288"/>
            <a:ext cx="23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4/20/2025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1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85D2D-86B1-164E-8E2B-854A76E013C1}"/>
              </a:ext>
            </a:extLst>
          </p:cNvPr>
          <p:cNvSpPr txBox="1"/>
          <p:nvPr/>
        </p:nvSpPr>
        <p:spPr>
          <a:xfrm>
            <a:off x="881031" y="701619"/>
            <a:ext cx="715985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SVG Image of Company Structure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8E9F8A-3187-AB5C-7399-251B124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6958" y="2026602"/>
            <a:ext cx="9567860" cy="28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5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F446A2-4B07-1266-1DE8-BD5AF6C1E126}"/>
              </a:ext>
            </a:extLst>
          </p:cNvPr>
          <p:cNvSpPr txBox="1">
            <a:spLocks/>
          </p:cNvSpPr>
          <p:nvPr/>
        </p:nvSpPr>
        <p:spPr>
          <a:xfrm>
            <a:off x="761839" y="871146"/>
            <a:ext cx="4544762" cy="140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CHEST X-RAY REPORT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73CC79-1B73-5AA5-74EE-DCBA87C2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39" y="1760198"/>
            <a:ext cx="5334161" cy="41479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X-ray Number : </a:t>
            </a:r>
            <a:r>
              <a:rPr lang="en-US" altLang="en-US" dirty="0">
                <a:latin typeface="+mn-lt"/>
              </a:rPr>
              <a:t>52587412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READINGS :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Lungs : </a:t>
            </a:r>
            <a:r>
              <a:rPr lang="en-US" altLang="en-US" dirty="0">
                <a:latin typeface="+mn-lt"/>
              </a:rPr>
              <a:t>Clear and well-inflated; no signs of pneumonia, pneumothorax, or effusion.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Heart : </a:t>
            </a:r>
            <a:r>
              <a:rPr lang="en-US" altLang="en-US" dirty="0">
                <a:latin typeface="+mn-lt"/>
              </a:rPr>
              <a:t>Normal size and shape; cardiac silhouette within normal limits; no cardiomegaly or pericardial effusion. 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Diaphragms : </a:t>
            </a:r>
            <a:r>
              <a:rPr lang="en-US" altLang="en-US" dirty="0">
                <a:latin typeface="+mn-lt"/>
              </a:rPr>
              <a:t>Well-defined and even; no elevation or depression.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Bones : </a:t>
            </a:r>
            <a:r>
              <a:rPr lang="en-US" altLang="en-US" dirty="0">
                <a:latin typeface="+mn-lt"/>
              </a:rPr>
              <a:t>Normal appearance; no fractures or dislocations.</a:t>
            </a:r>
          </a:p>
        </p:txBody>
      </p:sp>
      <p:pic>
        <p:nvPicPr>
          <p:cNvPr id="12" name="Picture 1" descr="A chest x-ray of a person&#10;&#10;Description automatically generated">
            <a:extLst>
              <a:ext uri="{FF2B5EF4-FFF2-40B4-BE49-F238E27FC236}">
                <a16:creationId xmlns:a16="http://schemas.microsoft.com/office/drawing/2014/main" id="{E3689B34-F6A6-D4EE-3C2A-7FB96FFC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394" y="771754"/>
            <a:ext cx="4005494" cy="45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D0E5E2ED-8D7A-4B6D-4121-1EDA37E9CBED}"/>
              </a:ext>
            </a:extLst>
          </p:cNvPr>
          <p:cNvSpPr txBox="1"/>
          <p:nvPr/>
        </p:nvSpPr>
        <p:spPr>
          <a:xfrm>
            <a:off x="7695739" y="5452777"/>
            <a:ext cx="3198403" cy="230832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effectLst/>
                <a:ea typeface="Times New Roman" panose="02020603050405020304" pitchFamily="18" charset="0"/>
              </a:rPr>
              <a:t>Figure 1: Chest X-ray- TIFF Version</a:t>
            </a:r>
          </a:p>
        </p:txBody>
      </p:sp>
    </p:spTree>
    <p:extLst>
      <p:ext uri="{BB962C8B-B14F-4D97-AF65-F5344CB8AC3E}">
        <p14:creationId xmlns:p14="http://schemas.microsoft.com/office/powerpoint/2010/main" val="402721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75F726-C0B5-47DE-BC71-6DFED385E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996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10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69848" y="0"/>
            <a:ext cx="10058400" cy="1609344"/>
          </a:xfrm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sz="2800" b="1" cap="all" dirty="0">
                <a:latin typeface="Arial"/>
              </a:rPr>
              <a:t>Target </a:t>
            </a:r>
            <a:r>
              <a:rPr sz="1800" dirty="0">
                <a:latin typeface="Arial"/>
              </a:rPr>
              <a:t>Vs </a:t>
            </a:r>
            <a:r>
              <a:rPr sz="2800" b="1" dirty="0">
                <a:latin typeface="Arial"/>
              </a:rPr>
              <a:t>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786384" y="1216152"/>
          <a:ext cx="10858500" cy="5263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34288"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410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Company History</vt:lpstr>
      <vt:lpstr>PowerPoint Presentation</vt:lpstr>
      <vt:lpstr>PowerPoint Presentation</vt:lpstr>
      <vt:lpstr>PowerPoint Presentation</vt:lpstr>
      <vt:lpstr>PowerPoint Presentation</vt:lpstr>
      <vt:lpstr>Target Vs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Kathiresan  Paranthaman</cp:lastModifiedBy>
  <cp:revision>17</cp:revision>
  <dcterms:created xsi:type="dcterms:W3CDTF">2019-02-27T08:36:52Z</dcterms:created>
  <dcterms:modified xsi:type="dcterms:W3CDTF">2026-09-23T11:49:56Z</dcterms:modified>
</cp:coreProperties>
</file>